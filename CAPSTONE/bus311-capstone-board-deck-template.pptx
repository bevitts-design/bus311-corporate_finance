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2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3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0bdf60c8ad84d67" /><Relationship Type="http://schemas.openxmlformats.org/officeDocument/2006/relationships/extended-properties" Target="/docProps/app.xml" Id="Rec47a81db41f411b" /><Relationship Type="http://schemas.openxmlformats.org/officeDocument/2006/relationships/officeDocument" Target="/ppt/presentation.xml" Id="Rfc83e06976f3413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88b24ca34794d6d"/>
  </p:sldMasterIdLst>
  <p:notesMasterIdLst>
    <p:notesMasterId xmlns:r="http://schemas.openxmlformats.org/officeDocument/2006/relationships" r:id="Rf06b03f1b5a54dda"/>
  </p:notesMasterIdLst>
  <p:sldIdLst>
    <p:sldId xmlns:r="http://schemas.openxmlformats.org/officeDocument/2006/relationships" id="256" r:id="Rafed6ce90e1a4c22"/>
    <p:sldId xmlns:r="http://schemas.openxmlformats.org/officeDocument/2006/relationships" id="257" r:id="R25565767ad114b57"/>
    <p:sldId xmlns:r="http://schemas.openxmlformats.org/officeDocument/2006/relationships" id="258" r:id="R920b428f03b04955"/>
    <p:sldId xmlns:r="http://schemas.openxmlformats.org/officeDocument/2006/relationships" id="259" r:id="Rd80187beafea48d9"/>
    <p:sldId xmlns:r="http://schemas.openxmlformats.org/officeDocument/2006/relationships" id="260" r:id="R8047e206dd18429d"/>
    <p:sldId xmlns:r="http://schemas.openxmlformats.org/officeDocument/2006/relationships" id="261" r:id="R7818c9960fe84f76"/>
    <p:sldId xmlns:r="http://schemas.openxmlformats.org/officeDocument/2006/relationships" id="262" r:id="R1490db6cdb5b485b"/>
    <p:sldId xmlns:r="http://schemas.openxmlformats.org/officeDocument/2006/relationships" id="263" r:id="Rcd1a0ecf2b284dd1"/>
    <p:sldId xmlns:r="http://schemas.openxmlformats.org/officeDocument/2006/relationships" id="264" r:id="R9958b80e7a704d54"/>
    <p:sldId xmlns:r="http://schemas.openxmlformats.org/officeDocument/2006/relationships" id="265" r:id="R03b2fcb0e0a841dc"/>
    <p:sldId xmlns:r="http://schemas.openxmlformats.org/officeDocument/2006/relationships" id="266" r:id="R76bb0e0e10004b9a"/>
    <p:sldId xmlns:r="http://schemas.openxmlformats.org/officeDocument/2006/relationships" id="267" r:id="Rfe9680e108fa4c7b"/>
    <p:sldId xmlns:r="http://schemas.openxmlformats.org/officeDocument/2006/relationships" id="268" r:id="R45c156f7f416459c"/>
    <p:sldId xmlns:r="http://schemas.openxmlformats.org/officeDocument/2006/relationships" id="269" r:id="R296fe3f82c7d4c9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b320017ca4048b4" /><Relationship Type="http://schemas.openxmlformats.org/officeDocument/2006/relationships/slideMaster" Target="/ppt/slideMasters/slideMaster1.xml" Id="R788b24ca34794d6d" /><Relationship Type="http://schemas.openxmlformats.org/officeDocument/2006/relationships/notesMaster" Target="/ppt/notesMasters/notesMaster1.xml" Id="Rf06b03f1b5a54dda" /><Relationship Type="http://schemas.openxmlformats.org/officeDocument/2006/relationships/presProps" Target="/ppt/presProps.xml" Id="R2fa9a05012bb49cb" /><Relationship Type="http://schemas.openxmlformats.org/officeDocument/2006/relationships/tableStyles" Target="/ppt/tableStyles.xml" Id="R9e21e4d3ee9946e8" /><Relationship Type="http://schemas.openxmlformats.org/officeDocument/2006/relationships/slide" Target="/ppt/slides/slide1.xml" Id="Rafed6ce90e1a4c22" /><Relationship Type="http://schemas.openxmlformats.org/officeDocument/2006/relationships/slide" Target="/ppt/slides/slide2.xml" Id="R25565767ad114b57" /><Relationship Type="http://schemas.openxmlformats.org/officeDocument/2006/relationships/slide" Target="/ppt/slides/slide3.xml" Id="R920b428f03b04955" /><Relationship Type="http://schemas.openxmlformats.org/officeDocument/2006/relationships/slide" Target="/ppt/slides/slide4.xml" Id="Rd80187beafea48d9" /><Relationship Type="http://schemas.openxmlformats.org/officeDocument/2006/relationships/slide" Target="/ppt/slides/slide5.xml" Id="R8047e206dd18429d" /><Relationship Type="http://schemas.openxmlformats.org/officeDocument/2006/relationships/slide" Target="/ppt/slides/slide6.xml" Id="R7818c9960fe84f76" /><Relationship Type="http://schemas.openxmlformats.org/officeDocument/2006/relationships/slide" Target="/ppt/slides/slide7.xml" Id="R1490db6cdb5b485b" /><Relationship Type="http://schemas.openxmlformats.org/officeDocument/2006/relationships/slide" Target="/ppt/slides/slide8.xml" Id="Rcd1a0ecf2b284dd1" /><Relationship Type="http://schemas.openxmlformats.org/officeDocument/2006/relationships/slide" Target="/ppt/slides/slide9.xml" Id="R9958b80e7a704d54" /><Relationship Type="http://schemas.openxmlformats.org/officeDocument/2006/relationships/slide" Target="/ppt/slides/slide10.xml" Id="R03b2fcb0e0a841dc" /><Relationship Type="http://schemas.openxmlformats.org/officeDocument/2006/relationships/slide" Target="/ppt/slides/slide11.xml" Id="R76bb0e0e10004b9a" /><Relationship Type="http://schemas.openxmlformats.org/officeDocument/2006/relationships/slide" Target="/ppt/slides/slide12.xml" Id="Rfe9680e108fa4c7b" /><Relationship Type="http://schemas.openxmlformats.org/officeDocument/2006/relationships/slide" Target="/ppt/slides/slide13.xml" Id="R45c156f7f416459c" /><Relationship Type="http://schemas.openxmlformats.org/officeDocument/2006/relationships/slide" Target="/ppt/slides/slide14.xml" Id="R296fe3f82c7d4c9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fd4a51f942f49e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95a2b04c21d4dd9" /><Relationship Type="http://schemas.openxmlformats.org/officeDocument/2006/relationships/notesMaster" Target="/ppt/notesMasters/notesMaster1.xml" Id="Rd8963dc46934472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bd691f6fdc041f0" /><Relationship Type="http://schemas.openxmlformats.org/officeDocument/2006/relationships/notesMaster" Target="/ppt/notesMasters/notesMaster1.xml" Id="R17fb1c29a0dd482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c494e7763ae4623" /><Relationship Type="http://schemas.openxmlformats.org/officeDocument/2006/relationships/notesMaster" Target="/ppt/notesMasters/notesMaster1.xml" Id="R63313636274a4a0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0ca286b9e144cfc" /><Relationship Type="http://schemas.openxmlformats.org/officeDocument/2006/relationships/notesMaster" Target="/ppt/notesMasters/notesMaster1.xml" Id="R075505791e2b4d7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89ec3ddb0c6403c" /><Relationship Type="http://schemas.openxmlformats.org/officeDocument/2006/relationships/notesMaster" Target="/ppt/notesMasters/notesMaster1.xml" Id="Rf9c1287d447a4f7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1db80304d8a4360" /><Relationship Type="http://schemas.openxmlformats.org/officeDocument/2006/relationships/notesMaster" Target="/ppt/notesMasters/notesMaster1.xml" Id="R1fd0354aac6d47e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4a214667c8d4364" /><Relationship Type="http://schemas.openxmlformats.org/officeDocument/2006/relationships/notesMaster" Target="/ppt/notesMasters/notesMaster1.xml" Id="Rd7267585e396458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cd3e266cc0147c6" /><Relationship Type="http://schemas.openxmlformats.org/officeDocument/2006/relationships/notesMaster" Target="/ppt/notesMasters/notesMaster1.xml" Id="Re2af17db88dc4f6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358d664863f4efe" /><Relationship Type="http://schemas.openxmlformats.org/officeDocument/2006/relationships/notesMaster" Target="/ppt/notesMasters/notesMaster1.xml" Id="R0e263447557a4d9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b6ea4998da5425c" /><Relationship Type="http://schemas.openxmlformats.org/officeDocument/2006/relationships/notesMaster" Target="/ppt/notesMasters/notesMaster1.xml" Id="R69e559c89db64c5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d0e9cd6851c4188" /><Relationship Type="http://schemas.openxmlformats.org/officeDocument/2006/relationships/notesMaster" Target="/ppt/notesMasters/notesMaster1.xml" Id="R47419e0bec764ef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90f70ecd9514c34" /><Relationship Type="http://schemas.openxmlformats.org/officeDocument/2006/relationships/notesMaster" Target="/ppt/notesMasters/notesMaster1.xml" Id="Re3724e241ff743c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ca748ab974f443c" /><Relationship Type="http://schemas.openxmlformats.org/officeDocument/2006/relationships/notesMaster" Target="/ppt/notesMasters/notesMaster1.xml" Id="R3aef524e6fee4c1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89807bff9374330" /><Relationship Type="http://schemas.openxmlformats.org/officeDocument/2006/relationships/notesMaster" Target="/ppt/notesMasters/notesMaster1.xml" Id="Rd369d9cade154a2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 TARGET: 0:35</a:t>
            </a:r>
          </a:p>
          <a:p xmlns:a="http://schemas.openxmlformats.org/drawingml/2006/main">
            <a:r>
              <a:t>NARRATIVE JOB: Open with the decision and recommendation so the Board knows the ask before the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PRESENTATION GUIDANCE</a:t>
            </a:r>
          </a:p>
          <a:p xmlns:a="http://schemas.openxmlformats.org/drawingml/2006/main">
            <a:r>
              <a:t>- State the takeaway; do not narrate every element.</a:t>
            </a:r>
          </a:p>
          <a:p xmlns:a="http://schemas.openxmlformats.org/drawingml/2006/main">
            <a:r>
              <a:t>- Define units and periods aloud the first time they appear.</a:t>
            </a:r>
          </a:p>
          <a:p xmlns:a="http://schemas.openxmlformats.org/drawingml/2006/main">
            <a:r>
              <a:t>- Keep the core briefing within seven minutes; use appendix slides only for live questions.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 AND ACCESSIBILITY CHECK</a:t>
            </a:r>
          </a:p>
          <a:p xmlns:a="http://schemas.openxmlformats.org/drawingml/2006/main">
            <a:r>
              <a:t>- Replace every bracketed field; do not add a separate title-only slide unless you remain within 8–10 core slides.</a:t>
            </a:r>
          </a:p>
          <a:p xmlns:a="http://schemas.openxmlformats.org/drawingml/2006/main">
            <a:r>
              <a:t>- Make the recommendation company-specific and implementable; avoid Buy/Hold/Sell as the governing thesis.</a:t>
            </a:r>
          </a:p>
          <a:p xmlns:a="http://schemas.openxmlformats.org/drawingml/2006/main">
            <a:r>
              <a:t>- Keep body text at 18 pt or larger; use concise, legible source notes.</a:t>
            </a:r>
          </a:p>
          <a:p xmlns:a="http://schemas.openxmlformats.org/drawingml/2006/main">
            <a:r>
              <a:t>- Use labels, patterns, or direct annotations so color is never the only cue.</a:t>
            </a:r>
          </a:p>
          <a:p xmlns:a="http://schemas.openxmlformats.org/drawingml/2006/main">
            <a:r>
              <a:t>- Give charts descriptive titles, labeled axes, units, periods, and meaningful alt text.</a:t>
            </a:r>
          </a:p>
          <a:p xmlns:a="http://schemas.openxmlformats.org/drawingml/2006/main">
            <a:r>
              <a:t>- Confirm logical reading order and run PowerPoint Accessibility Checker.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BUS311 Individual Company Capstone assignment brief, approved student release v1.4.0, Aug. 11, 2026.</a:t>
            </a:r>
          </a:p>
          <a:p xmlns:a="http://schemas.openxmlformats.org/drawingml/2006/main">
            <a:r>
              <a:t>- Replace source placeholders with the student's maintained evidence-register IDs.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 TARGET: 0:45</a:t>
            </a:r>
          </a:p>
          <a:p xmlns:a="http://schemas.openxmlformats.org/drawingml/2006/main">
            <a:r>
              <a:t>NARRATIVE JOB: Explain the business model as a finance mechanism, not as company background.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PRESENTATION GUIDANCE</a:t>
            </a:r>
          </a:p>
          <a:p xmlns:a="http://schemas.openxmlformats.org/drawingml/2006/main">
            <a:r>
              <a:t>- State the takeaway; do not narrate every element.</a:t>
            </a:r>
          </a:p>
          <a:p xmlns:a="http://schemas.openxmlformats.org/drawingml/2006/main">
            <a:r>
              <a:t>- Define units and periods aloud the first time they appear.</a:t>
            </a:r>
          </a:p>
          <a:p xmlns:a="http://schemas.openxmlformats.org/drawingml/2006/main">
            <a:r>
              <a:t>- Keep the core briefing within seven minutes; use appendix slides only for live questions.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 AND ACCESSIBILITY CHECK</a:t>
            </a:r>
          </a:p>
          <a:p xmlns:a="http://schemas.openxmlformats.org/drawingml/2006/main">
            <a:r>
              <a:t>- Use company-specific segments, customers, channels, pricing, recurrence, and management levers.</a:t>
            </a:r>
          </a:p>
          <a:p xmlns:a="http://schemas.openxmlformats.org/drawingml/2006/main">
            <a:r>
              <a:t>- If a dimension is not disclosed, state the limitation rather than inventing precision.</a:t>
            </a:r>
          </a:p>
          <a:p xmlns:a="http://schemas.openxmlformats.org/drawingml/2006/main">
            <a:r>
              <a:t>- Keep body text at 18 pt or larger; use concise, legible source notes.</a:t>
            </a:r>
          </a:p>
          <a:p xmlns:a="http://schemas.openxmlformats.org/drawingml/2006/main">
            <a:r>
              <a:t>- Use labels, patterns, or direct annotations so color is never the only cue.</a:t>
            </a:r>
          </a:p>
          <a:p xmlns:a="http://schemas.openxmlformats.org/drawingml/2006/main">
            <a:r>
              <a:t>- Give charts descriptive titles, labeled axes, units, periods, and meaningful alt text.</a:t>
            </a:r>
          </a:p>
          <a:p xmlns:a="http://schemas.openxmlformats.org/drawingml/2006/main">
            <a:r>
              <a:t>- Confirm logical reading order and run PowerPoint Accessibility Checker.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BUS311 Individual Company Capstone assignment brief, approved student release v1.4.0, Aug. 11, 2026.</a:t>
            </a:r>
          </a:p>
          <a:p xmlns:a="http://schemas.openxmlformats.org/drawingml/2006/main">
            <a:r>
              <a:t>- SEC evidence should identify form, filing date, fiscal period, and exact item/page/table.</a:t>
            </a:r>
          </a:p>
          <a:p xmlns:a="http://schemas.openxmlformats.org/drawingml/2006/main">
            <a:r>
              <a:t>- FactSet evidence should identify screen/report/metric, data-through date, units, definition, and peer group when applicable.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 TARGET: 0:50</a:t>
            </a:r>
          </a:p>
          <a:p xmlns:a="http://schemas.openxmlformats.org/drawingml/2006/main">
            <a:r>
              <a:t>NARRATIVE JOB: Establish a three-to-five-year operating baseline and explain the driver decomposition.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PRESENTATION GUIDANCE</a:t>
            </a:r>
          </a:p>
          <a:p xmlns:a="http://schemas.openxmlformats.org/drawingml/2006/main">
            <a:r>
              <a:t>- State the takeaway; do not narrate every element.</a:t>
            </a:r>
          </a:p>
          <a:p xmlns:a="http://schemas.openxmlformats.org/drawingml/2006/main">
            <a:r>
              <a:t>- Define units and periods aloud the first time they appear.</a:t>
            </a:r>
          </a:p>
          <a:p xmlns:a="http://schemas.openxmlformats.org/drawingml/2006/main">
            <a:r>
              <a:t>- Keep the core briefing within seven minutes; use appendix slides only for live questions.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 AND ACCESSIBILITY CHECK</a:t>
            </a:r>
          </a:p>
          <a:p xmlns:a="http://schemas.openxmlformats.org/drawingml/2006/main">
            <a:r>
              <a:t>- Replace all example chart data; never submit the normalized placeholder series as company evidence.</a:t>
            </a:r>
          </a:p>
          <a:p xmlns:a="http://schemas.openxmlformats.org/drawingml/2006/main">
            <a:r>
              <a:t>- Prefer an editable Excel-linked/native chart. If using a permitted FactSet chart, make its metric, date, definition, and peer group traceable.</a:t>
            </a:r>
          </a:p>
          <a:p xmlns:a="http://schemas.openxmlformats.org/drawingml/2006/main">
            <a:r>
              <a:t>- Distinguish quantified drivers from directional drivers and disclosed limitations.</a:t>
            </a:r>
          </a:p>
          <a:p xmlns:a="http://schemas.openxmlformats.org/drawingml/2006/main">
            <a:r>
              <a:t>- Keep body text at 18 pt or larger; use concise, legible source notes.</a:t>
            </a:r>
          </a:p>
          <a:p xmlns:a="http://schemas.openxmlformats.org/drawingml/2006/main">
            <a:r>
              <a:t>- Use labels, patterns, or direct annotations so color is never the only cue.</a:t>
            </a:r>
          </a:p>
          <a:p xmlns:a="http://schemas.openxmlformats.org/drawingml/2006/main">
            <a:r>
              <a:t>- Give charts descriptive titles, labeled axes, units, periods, and meaningful alt text.</a:t>
            </a:r>
          </a:p>
          <a:p xmlns:a="http://schemas.openxmlformats.org/drawingml/2006/main">
            <a:r>
              <a:t>- Confirm logical reading order and run PowerPoint Accessibility Checker.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BUS311 Individual Company Capstone assignment brief, approved student release v1.4.0, Aug. 11, 2026.</a:t>
            </a:r>
          </a:p>
          <a:p xmlns:a="http://schemas.openxmlformats.org/drawingml/2006/main">
            <a:r>
              <a:t>- Do not use AI-generated chart images as financial evidence.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 TARGET: 0:50</a:t>
            </a:r>
          </a:p>
          <a:p xmlns:a="http://schemas.openxmlformats.org/drawingml/2006/main">
            <a:r>
              <a:t>NARRATIVE JOB: Show how independent verification changed—or justified retaining—the student's operating hypothesis.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PRESENTATION GUIDANCE</a:t>
            </a:r>
          </a:p>
          <a:p xmlns:a="http://schemas.openxmlformats.org/drawingml/2006/main">
            <a:r>
              <a:t>- State the takeaway; do not narrate every element.</a:t>
            </a:r>
          </a:p>
          <a:p xmlns:a="http://schemas.openxmlformats.org/drawingml/2006/main">
            <a:r>
              <a:t>- Define units and periods aloud the first time they appear.</a:t>
            </a:r>
          </a:p>
          <a:p xmlns:a="http://schemas.openxmlformats.org/drawingml/2006/main">
            <a:r>
              <a:t>- Keep the core briefing within seven minutes; use appendix slides only for live questions.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 AND ACCESSIBILITY CHECK</a:t>
            </a:r>
          </a:p>
          <a:p xmlns:a="http://schemas.openxmlformats.org/drawingml/2006/main">
            <a:r>
              <a:t>- Name the strongest challenge, evidence checked, finding, accept/modify/reject judgment, and revised hypothesis.</a:t>
            </a:r>
          </a:p>
          <a:p xmlns:a="http://schemas.openxmlformats.org/drawingml/2006/main">
            <a:r>
              <a:t>- Do not paste AI prose or cite AI as financial evidence.</a:t>
            </a:r>
          </a:p>
          <a:p xmlns:a="http://schemas.openxmlformats.org/drawingml/2006/main">
            <a:r>
              <a:t>- Do not upload workbooks, raw FactSet exports/screenshots, personal information, instructor-only material, or nonpublic information to public AI.</a:t>
            </a:r>
          </a:p>
          <a:p xmlns:a="http://schemas.openxmlformats.org/drawingml/2006/main">
            <a:r>
              <a:t>- Keep body text at 18 pt or larger; use concise, legible source notes.</a:t>
            </a:r>
          </a:p>
          <a:p xmlns:a="http://schemas.openxmlformats.org/drawingml/2006/main">
            <a:r>
              <a:t>- Use labels, patterns, or direct annotations so color is never the only cue.</a:t>
            </a:r>
          </a:p>
          <a:p xmlns:a="http://schemas.openxmlformats.org/drawingml/2006/main">
            <a:r>
              <a:t>- Give charts descriptive titles, labeled axes, units, periods, and meaningful alt text.</a:t>
            </a:r>
          </a:p>
          <a:p xmlns:a="http://schemas.openxmlformats.org/drawingml/2006/main">
            <a:r>
              <a:t>- Confirm logical reading order and run PowerPoint Accessibility Checker.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BUS311 Individual Company Capstone assignment brief, approved student release v1.4.0, Aug. 11, 2026.</a:t>
            </a:r>
          </a:p>
          <a:p xmlns:a="http://schemas.openxmlformats.org/drawingml/2006/main">
            <a:r>
              <a:t>- Use the BUS311 C-A-P-A-J record for the revenue-hypothesis checkpoint.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 TARGET: 0:50</a:t>
            </a:r>
          </a:p>
          <a:p xmlns:a="http://schemas.openxmlformats.org/drawingml/2006/main">
            <a:r>
              <a:t>NARRATIVE JOB: Translate the final hypothesis into base, upside, and downside forecast assumptions.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PRESENTATION GUIDANCE</a:t>
            </a:r>
          </a:p>
          <a:p xmlns:a="http://schemas.openxmlformats.org/drawingml/2006/main">
            <a:r>
              <a:t>- State the takeaway; do not narrate every element.</a:t>
            </a:r>
          </a:p>
          <a:p xmlns:a="http://schemas.openxmlformats.org/drawingml/2006/main">
            <a:r>
              <a:t>- Define units and periods aloud the first time they appear.</a:t>
            </a:r>
          </a:p>
          <a:p xmlns:a="http://schemas.openxmlformats.org/drawingml/2006/main">
            <a:r>
              <a:t>- Keep the core briefing within seven minutes; use appendix slides only for live questions.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 AND ACCESSIBILITY CHECK</a:t>
            </a:r>
          </a:p>
          <a:p xmlns:a="http://schemas.openxmlformats.org/drawingml/2006/main">
            <a:r>
              <a:t>- Replace all example chart data and define the scenario trigger for each path.</a:t>
            </a:r>
          </a:p>
          <a:p xmlns:a="http://schemas.openxmlformats.org/drawingml/2006/main">
            <a:r>
              <a:t>- Tie each material forecast assumption to SEC, FactSet, Excel, or another credible source and record its limitation.</a:t>
            </a:r>
          </a:p>
          <a:p xmlns:a="http://schemas.openxmlformats.org/drawingml/2006/main">
            <a:r>
              <a:t>- Use the same scenario labels and assumptions in the model, core deck, appendix, and PowerPoint company analysis.</a:t>
            </a:r>
          </a:p>
          <a:p xmlns:a="http://schemas.openxmlformats.org/drawingml/2006/main">
            <a:r>
              <a:t>- Keep body text at 18 pt or larger; use concise, legible source notes.</a:t>
            </a:r>
          </a:p>
          <a:p xmlns:a="http://schemas.openxmlformats.org/drawingml/2006/main">
            <a:r>
              <a:t>- Use labels, patterns, or direct annotations so color is never the only cue.</a:t>
            </a:r>
          </a:p>
          <a:p xmlns:a="http://schemas.openxmlformats.org/drawingml/2006/main">
            <a:r>
              <a:t>- Give charts descriptive titles, labeled axes, units, periods, and meaningful alt text.</a:t>
            </a:r>
          </a:p>
          <a:p xmlns:a="http://schemas.openxmlformats.org/drawingml/2006/main">
            <a:r>
              <a:t>- Confirm logical reading order and run PowerPoint Accessibility Checker.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BUS311 Individual Company Capstone assignment brief, approved student release v1.4.0, Aug. 11, 2026.</a:t>
            </a:r>
          </a:p>
          <a:p xmlns:a="http://schemas.openxmlformats.org/drawingml/2006/main">
            <a:r>
              <a:t>- Model outputs are evidence only after inputs, calculations, checks, and source reconciliations are complete.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 TARGET: 0:50</a:t>
            </a:r>
          </a:p>
          <a:p xmlns:a="http://schemas.openxmlformats.org/drawingml/2006/main">
            <a:r>
              <a:t>NARRATIVE JOB: Use valuation to quantify consequences and decision boundaries, not to replace operating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PRESENTATION GUIDANCE</a:t>
            </a:r>
          </a:p>
          <a:p xmlns:a="http://schemas.openxmlformats.org/drawingml/2006/main">
            <a:r>
              <a:t>- State the takeaway; do not narrate every element.</a:t>
            </a:r>
          </a:p>
          <a:p xmlns:a="http://schemas.openxmlformats.org/drawingml/2006/main">
            <a:r>
              <a:t>- Define units and periods aloud the first time they appear.</a:t>
            </a:r>
          </a:p>
          <a:p xmlns:a="http://schemas.openxmlformats.org/drawingml/2006/main">
            <a:r>
              <a:t>- Keep the core briefing within seven minutes; use appendix slides only for live questions.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 AND ACCESSIBILITY CHECK</a:t>
            </a:r>
          </a:p>
          <a:p xmlns:a="http://schemas.openxmlformats.org/drawingml/2006/main">
            <a:r>
              <a:t>- Replace all example chart data and show the model method appropriate to the approved company decision.</a:t>
            </a:r>
          </a:p>
          <a:p xmlns:a="http://schemas.openxmlformats.org/drawingml/2006/main">
            <a:r>
              <a:t>- Confirm correct tax, NOPAT, depreciation, capital expenditure, net working capital, discount-rate, terminal-value, and enterprise-to-equity logic when applicable.</a:t>
            </a:r>
          </a:p>
          <a:p xmlns:a="http://schemas.openxmlformats.org/drawingml/2006/main">
            <a:r>
              <a:t>- State model limitations and sensitivity; do not imply precision the evidence cannot support.</a:t>
            </a:r>
          </a:p>
          <a:p xmlns:a="http://schemas.openxmlformats.org/drawingml/2006/main">
            <a:r>
              <a:t>- Keep body text at 18 pt or larger; use concise, legible source notes.</a:t>
            </a:r>
          </a:p>
          <a:p xmlns:a="http://schemas.openxmlformats.org/drawingml/2006/main">
            <a:r>
              <a:t>- Use labels, patterns, or direct annotations so color is never the only cue.</a:t>
            </a:r>
          </a:p>
          <a:p xmlns:a="http://schemas.openxmlformats.org/drawingml/2006/main">
            <a:r>
              <a:t>- Give charts descriptive titles, labeled axes, units, periods, and meaningful alt text.</a:t>
            </a:r>
          </a:p>
          <a:p xmlns:a="http://schemas.openxmlformats.org/drawingml/2006/main">
            <a:r>
              <a:t>- Confirm logical reading order and run PowerPoint Accessibility Checker.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BUS311 Individual Company Capstone assignment brief, approved student release v1.4.0, Aug. 11, 2026.</a:t>
            </a:r>
          </a:p>
          <a:p xmlns:a="http://schemas.openxmlformats.org/drawingml/2006/main">
            <a:r>
              <a:t>- Appendix slides must expose key assumptions, checks, scenarios, and sensitivities for live questions.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 TARGET: 0:45</a:t>
            </a:r>
          </a:p>
          <a:p xmlns:a="http://schemas.openxmlformats.org/drawingml/2006/main">
            <a:r>
              <a:t>NARRATIVE JOB: Specify the action, scale, timing, owners, and decision rule supported by the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PRESENTATION GUIDANCE</a:t>
            </a:r>
          </a:p>
          <a:p xmlns:a="http://schemas.openxmlformats.org/drawingml/2006/main">
            <a:r>
              <a:t>- State the takeaway; do not narrate every element.</a:t>
            </a:r>
          </a:p>
          <a:p xmlns:a="http://schemas.openxmlformats.org/drawingml/2006/main">
            <a:r>
              <a:t>- Define units and periods aloud the first time they appear.</a:t>
            </a:r>
          </a:p>
          <a:p xmlns:a="http://schemas.openxmlformats.org/drawingml/2006/main">
            <a:r>
              <a:t>- Keep the core briefing within seven minutes; use appendix slides only for live questions.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 AND ACCESSIBILITY CHECK</a:t>
            </a:r>
          </a:p>
          <a:p xmlns:a="http://schemas.openxmlformats.org/drawingml/2006/main">
            <a:r>
              <a:t>- Use two or three supporting actions only; each must connect to a revenue driver, model output, implementation need, or mitigation.</a:t>
            </a:r>
          </a:p>
          <a:p xmlns:a="http://schemas.openxmlformats.org/drawingml/2006/main">
            <a:r>
              <a:t>- State tradeoffs explicitly instead of presenting a costless recommendation.</a:t>
            </a:r>
          </a:p>
          <a:p xmlns:a="http://schemas.openxmlformats.org/drawingml/2006/main">
            <a:r>
              <a:t>- Keep body text at 18 pt or larger; use concise, legible source notes.</a:t>
            </a:r>
          </a:p>
          <a:p xmlns:a="http://schemas.openxmlformats.org/drawingml/2006/main">
            <a:r>
              <a:t>- Use labels, patterns, or direct annotations so color is never the only cue.</a:t>
            </a:r>
          </a:p>
          <a:p xmlns:a="http://schemas.openxmlformats.org/drawingml/2006/main">
            <a:r>
              <a:t>- Give charts descriptive titles, labeled axes, units, periods, and meaningful alt text.</a:t>
            </a:r>
          </a:p>
          <a:p xmlns:a="http://schemas.openxmlformats.org/drawingml/2006/main">
            <a:r>
              <a:t>- Confirm logical reading order and run PowerPoint Accessibility Checker.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BUS311 Individual Company Capstone assignment brief, approved student release v1.4.0, Aug. 11, 2026.</a:t>
            </a:r>
          </a:p>
          <a:p xmlns:a="http://schemas.openxmlformats.org/drawingml/2006/main">
            <a:r>
              <a:t>- Every quantified benefit, cost, or threshold requires a traceable source or model calculation.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 TARGET: 0:40</a:t>
            </a:r>
          </a:p>
          <a:p xmlns:a="http://schemas.openxmlformats.org/drawingml/2006/main">
            <a:r>
              <a:t>NARRATIVE JOB: Show who does what, by when, with measurable triggers and a review decision.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PRESENTATION GUIDANCE</a:t>
            </a:r>
          </a:p>
          <a:p xmlns:a="http://schemas.openxmlformats.org/drawingml/2006/main">
            <a:r>
              <a:t>- State the takeaway; do not narrate every element.</a:t>
            </a:r>
          </a:p>
          <a:p xmlns:a="http://schemas.openxmlformats.org/drawingml/2006/main">
            <a:r>
              <a:t>- Define units and periods aloud the first time they appear.</a:t>
            </a:r>
          </a:p>
          <a:p xmlns:a="http://schemas.openxmlformats.org/drawingml/2006/main">
            <a:r>
              <a:t>- Keep the core briefing within seven minutes; use appendix slides only for live questions.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 AND ACCESSIBILITY CHECK</a:t>
            </a:r>
          </a:p>
          <a:p xmlns:a="http://schemas.openxmlformats.org/drawingml/2006/main">
            <a:r>
              <a:t>- Use realistic sequencing and identify responsible functions rather than unnamed 'management.'</a:t>
            </a:r>
          </a:p>
          <a:p xmlns:a="http://schemas.openxmlformats.org/drawingml/2006/main">
            <a:r>
              <a:t>- Include at least one performance indicator, early-warning trigger, and governance checkpoint.</a:t>
            </a:r>
          </a:p>
          <a:p xmlns:a="http://schemas.openxmlformats.org/drawingml/2006/main">
            <a:r>
              <a:t>- Keep body text at 18 pt or larger; use concise, legible source notes.</a:t>
            </a:r>
          </a:p>
          <a:p xmlns:a="http://schemas.openxmlformats.org/drawingml/2006/main">
            <a:r>
              <a:t>- Use labels, patterns, or direct annotations so color is never the only cue.</a:t>
            </a:r>
          </a:p>
          <a:p xmlns:a="http://schemas.openxmlformats.org/drawingml/2006/main">
            <a:r>
              <a:t>- Give charts descriptive titles, labeled axes, units, periods, and meaningful alt text.</a:t>
            </a:r>
          </a:p>
          <a:p xmlns:a="http://schemas.openxmlformats.org/drawingml/2006/main">
            <a:r>
              <a:t>- Confirm logical reading order and run PowerPoint Accessibility Checker.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BUS311 Individual Company Capstone assignment brief, approved student release v1.4.0, Aug. 11, 2026.</a:t>
            </a:r>
          </a:p>
          <a:p xmlns:a="http://schemas.openxmlformats.org/drawingml/2006/main">
            <a:r>
              <a:t>- Proposed implementation dates are student recommendations; distinguish them from company-disclosed commitments.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 TARGET: 0:35</a:t>
            </a:r>
          </a:p>
          <a:p xmlns:a="http://schemas.openxmlformats.org/drawingml/2006/main">
            <a:r>
              <a:t>NARRATIVE JOB: Frame risks as monitored decision conditions, not as a generic list.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PRESENTATION GUIDANCE</a:t>
            </a:r>
          </a:p>
          <a:p xmlns:a="http://schemas.openxmlformats.org/drawingml/2006/main">
            <a:r>
              <a:t>- State the takeaway; do not narrate every element.</a:t>
            </a:r>
          </a:p>
          <a:p xmlns:a="http://schemas.openxmlformats.org/drawingml/2006/main">
            <a:r>
              <a:t>- Define units and periods aloud the first time they appear.</a:t>
            </a:r>
          </a:p>
          <a:p xmlns:a="http://schemas.openxmlformats.org/drawingml/2006/main">
            <a:r>
              <a:t>- Keep the core briefing within seven minutes; use appendix slides only for live questions.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 AND ACCESSIBILITY CHECK</a:t>
            </a:r>
          </a:p>
          <a:p xmlns:a="http://schemas.openxmlformats.org/drawingml/2006/main">
            <a:r>
              <a:t>- Prioritize risks using words as well as color; define observable triggers and owners.</a:t>
            </a:r>
          </a:p>
          <a:p xmlns:a="http://schemas.openxmlformats.org/drawingml/2006/main">
            <a:r>
              <a:t>- Connect at least one risk to the downside scenario and one to the implementation plan.</a:t>
            </a:r>
          </a:p>
          <a:p xmlns:a="http://schemas.openxmlformats.org/drawingml/2006/main">
            <a:r>
              <a:t>- Keep body text at 18 pt or larger; use concise, legible source notes.</a:t>
            </a:r>
          </a:p>
          <a:p xmlns:a="http://schemas.openxmlformats.org/drawingml/2006/main">
            <a:r>
              <a:t>- Use labels, patterns, or direct annotations so color is never the only cue.</a:t>
            </a:r>
          </a:p>
          <a:p xmlns:a="http://schemas.openxmlformats.org/drawingml/2006/main">
            <a:r>
              <a:t>- Give charts descriptive titles, labeled axes, units, periods, and meaningful alt text.</a:t>
            </a:r>
          </a:p>
          <a:p xmlns:a="http://schemas.openxmlformats.org/drawingml/2006/main">
            <a:r>
              <a:t>- Confirm logical reading order and run PowerPoint Accessibility Checker.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BUS311 Individual Company Capstone assignment brief, approved student release v1.4.0, Aug. 11, 2026.</a:t>
            </a:r>
          </a:p>
          <a:p xmlns:a="http://schemas.openxmlformats.org/drawingml/2006/main">
            <a:r>
              <a:t>- Use company risk factors as evidence, but translate them into decision-specific exposure and mitigation.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 TARGET: 0:20</a:t>
            </a:r>
          </a:p>
          <a:p xmlns:a="http://schemas.openxmlformats.org/drawingml/2006/main">
            <a:r>
              <a:t>NARRATIVE JOB: Close with the resolution, guardrail, and immediate next step—then stop.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PRESENTATION GUIDANCE</a:t>
            </a:r>
          </a:p>
          <a:p xmlns:a="http://schemas.openxmlformats.org/drawingml/2006/main">
            <a:r>
              <a:t>- State the takeaway; do not narrate every element.</a:t>
            </a:r>
          </a:p>
          <a:p xmlns:a="http://schemas.openxmlformats.org/drawingml/2006/main">
            <a:r>
              <a:t>- Define units and periods aloud the first time they appear.</a:t>
            </a:r>
          </a:p>
          <a:p xmlns:a="http://schemas.openxmlformats.org/drawingml/2006/main">
            <a:r>
              <a:t>- Keep the core briefing within seven minutes; use appendix slides only for live questions.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 AND ACCESSIBILITY CHECK</a:t>
            </a:r>
          </a:p>
          <a:p xmlns:a="http://schemas.openxmlformats.org/drawingml/2006/main">
            <a:r>
              <a:t>- Do not add a generic thank-you slide; end on the decision the Board should make.</a:t>
            </a:r>
          </a:p>
          <a:p xmlns:a="http://schemas.openxmlformats.org/drawingml/2006/main">
            <a:r>
              <a:t>- Move to appendix slides only in response to live questions.</a:t>
            </a:r>
          </a:p>
          <a:p xmlns:a="http://schemas.openxmlformats.org/drawingml/2006/main">
            <a:r>
              <a:t>- Keep body text at 18 pt or larger; use concise, legible source notes.</a:t>
            </a:r>
          </a:p>
          <a:p xmlns:a="http://schemas.openxmlformats.org/drawingml/2006/main">
            <a:r>
              <a:t>- Use labels, patterns, or direct annotations so color is never the only cue.</a:t>
            </a:r>
          </a:p>
          <a:p xmlns:a="http://schemas.openxmlformats.org/drawingml/2006/main">
            <a:r>
              <a:t>- Give charts descriptive titles, labeled axes, units, periods, and meaningful alt text.</a:t>
            </a:r>
          </a:p>
          <a:p xmlns:a="http://schemas.openxmlformats.org/drawingml/2006/main">
            <a:r>
              <a:t>- Confirm logical reading order and run PowerPoint Accessibility Checker.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BUS311 Individual Company Capstone assignment brief, approved student release v1.4.0, Aug. 11, 2026.</a:t>
            </a:r>
          </a:p>
          <a:p xmlns:a="http://schemas.openxmlformats.org/drawingml/2006/main">
            <a:r>
              <a:t>- Use the same recommendation language throughout the submitted PowerPoint and earlier core slides.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 TARGET: LIVE QUESTIONS ONLY</a:t>
            </a:r>
          </a:p>
          <a:p xmlns:a="http://schemas.openxmlformats.org/drawingml/2006/main">
            <a:r>
              <a:t>NARRATIVE JOB: Defend revenue definitions, periods, drivers, comparability, and limitations.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PRESENTATION GUIDANCE</a:t>
            </a:r>
          </a:p>
          <a:p xmlns:a="http://schemas.openxmlformats.org/drawingml/2006/main">
            <a:r>
              <a:t>- State the takeaway; do not narrate every element.</a:t>
            </a:r>
          </a:p>
          <a:p xmlns:a="http://schemas.openxmlformats.org/drawingml/2006/main">
            <a:r>
              <a:t>- Define units and periods aloud the first time they appear.</a:t>
            </a:r>
          </a:p>
          <a:p xmlns:a="http://schemas.openxmlformats.org/drawingml/2006/main">
            <a:r>
              <a:t>- Keep the core briefing within seven minutes; use appendix slides only for live questions.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 AND ACCESSIBILITY CHECK</a:t>
            </a:r>
          </a:p>
          <a:p xmlns:a="http://schemas.openxmlformats.org/drawingml/2006/main">
            <a:r>
              <a:t>- Use three to five years when available and label consistent periods, currency, and units.</a:t>
            </a:r>
          </a:p>
          <a:p xmlns:a="http://schemas.openxmlformats.org/drawingml/2006/main">
            <a:r>
              <a:t>- If fewer than three defensible peers exist, explain why rather than padding the group.</a:t>
            </a:r>
          </a:p>
          <a:p xmlns:a="http://schemas.openxmlformats.org/drawingml/2006/main">
            <a:r>
              <a:t>- Keep body text at 18 pt or larger; use concise, legible source notes.</a:t>
            </a:r>
          </a:p>
          <a:p xmlns:a="http://schemas.openxmlformats.org/drawingml/2006/main">
            <a:r>
              <a:t>- Use labels, patterns, or direct annotations so color is never the only cue.</a:t>
            </a:r>
          </a:p>
          <a:p xmlns:a="http://schemas.openxmlformats.org/drawingml/2006/main">
            <a:r>
              <a:t>- Give charts descriptive titles, labeled axes, units, periods, and meaningful alt text.</a:t>
            </a:r>
          </a:p>
          <a:p xmlns:a="http://schemas.openxmlformats.org/drawingml/2006/main">
            <a:r>
              <a:t>- Confirm logical reading order and run PowerPoint Accessibility Checker.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BUS311 Individual Company Capstone assignment brief, approved student release v1.4.0, Aug. 11, 2026.</a:t>
            </a:r>
          </a:p>
          <a:p xmlns:a="http://schemas.openxmlformats.org/drawingml/2006/main">
            <a:r>
              <a:t>- FactSet course-use evidence remains licensed; do not publish exports or upload raw exports/screenshots to public AI.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 TARGET: LIVE QUESTIONS ONLY</a:t>
            </a:r>
          </a:p>
          <a:p xmlns:a="http://schemas.openxmlformats.org/drawingml/2006/main">
            <a:r>
              <a:t>NARRATIVE JOB: Expose the model logic and the checks that make the output credible.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PRESENTATION GUIDANCE</a:t>
            </a:r>
          </a:p>
          <a:p xmlns:a="http://schemas.openxmlformats.org/drawingml/2006/main">
            <a:r>
              <a:t>- State the takeaway; do not narrate every element.</a:t>
            </a:r>
          </a:p>
          <a:p xmlns:a="http://schemas.openxmlformats.org/drawingml/2006/main">
            <a:r>
              <a:t>- Define units and periods aloud the first time they appear.</a:t>
            </a:r>
          </a:p>
          <a:p xmlns:a="http://schemas.openxmlformats.org/drawingml/2006/main">
            <a:r>
              <a:t>- Keep the core briefing within seven minutes; use appendix slides only for live questions.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 AND ACCESSIBILITY CHECK</a:t>
            </a:r>
          </a:p>
          <a:p xmlns:a="http://schemas.openxmlformats.org/drawingml/2006/main">
            <a:r>
              <a:t>- Show formulas or clear definitions for material inputs and calculations.</a:t>
            </a:r>
          </a:p>
          <a:p xmlns:a="http://schemas.openxmlformats.org/drawingml/2006/main">
            <a:r>
              <a:t>- No unexplained hardcoded result, unresolved formula error, or scenario disconnected from the revenue hypothesis.</a:t>
            </a:r>
          </a:p>
          <a:p xmlns:a="http://schemas.openxmlformats.org/drawingml/2006/main">
            <a:r>
              <a:t>- Keep body text at 18 pt or larger; use concise, legible source notes.</a:t>
            </a:r>
          </a:p>
          <a:p xmlns:a="http://schemas.openxmlformats.org/drawingml/2006/main">
            <a:r>
              <a:t>- Use labels, patterns, or direct annotations so color is never the only cue.</a:t>
            </a:r>
          </a:p>
          <a:p xmlns:a="http://schemas.openxmlformats.org/drawingml/2006/main">
            <a:r>
              <a:t>- Give charts descriptive titles, labeled axes, units, periods, and meaningful alt text.</a:t>
            </a:r>
          </a:p>
          <a:p xmlns:a="http://schemas.openxmlformats.org/drawingml/2006/main">
            <a:r>
              <a:t>- Confirm logical reading order and run PowerPoint Accessibility Checker.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BUS311 Individual Company Capstone assignment brief, approved student release v1.4.0, Aug. 11, 2026.</a:t>
            </a:r>
          </a:p>
          <a:p xmlns:a="http://schemas.openxmlformats.org/drawingml/2006/main">
            <a:r>
              <a:t>- Use the current instructor-approved model method and retain the working Excel artifact separately.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 TARGET: LIVE QUESTIONS ONLY</a:t>
            </a:r>
          </a:p>
          <a:p xmlns:a="http://schemas.openxmlformats.org/drawingml/2006/main">
            <a:r>
              <a:t>NARRATIVE JOB: Demonstrate which assumptions matter most and where the recommendation flips.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PRESENTATION GUIDANCE</a:t>
            </a:r>
          </a:p>
          <a:p xmlns:a="http://schemas.openxmlformats.org/drawingml/2006/main">
            <a:r>
              <a:t>- State the takeaway; do not narrate every element.</a:t>
            </a:r>
          </a:p>
          <a:p xmlns:a="http://schemas.openxmlformats.org/drawingml/2006/main">
            <a:r>
              <a:t>- Define units and periods aloud the first time they appear.</a:t>
            </a:r>
          </a:p>
          <a:p xmlns:a="http://schemas.openxmlformats.org/drawingml/2006/main">
            <a:r>
              <a:t>- Keep the core briefing within seven minutes; use appendix slides only for live questions.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 AND ACCESSIBILITY CHECK</a:t>
            </a:r>
          </a:p>
          <a:p xmlns:a="http://schemas.openxmlformats.org/drawingml/2006/main">
            <a:r>
              <a:t>- Use an editable PowerPoint table or chart linked conceptually to the Excel model; do not paste a screenshot as the only evidence.</a:t>
            </a:r>
          </a:p>
          <a:p xmlns:a="http://schemas.openxmlformats.org/drawingml/2006/main">
            <a:r>
              <a:t>- Label both sensitivity variables, units, base case, and decision boundary.</a:t>
            </a:r>
          </a:p>
          <a:p xmlns:a="http://schemas.openxmlformats.org/drawingml/2006/main">
            <a:r>
              <a:t>- Keep body text at 18 pt or larger; use concise, legible source notes.</a:t>
            </a:r>
          </a:p>
          <a:p xmlns:a="http://schemas.openxmlformats.org/drawingml/2006/main">
            <a:r>
              <a:t>- Use labels, patterns, or direct annotations so color is never the only cue.</a:t>
            </a:r>
          </a:p>
          <a:p xmlns:a="http://schemas.openxmlformats.org/drawingml/2006/main">
            <a:r>
              <a:t>- Give charts descriptive titles, labeled axes, units, periods, and meaningful alt text.</a:t>
            </a:r>
          </a:p>
          <a:p xmlns:a="http://schemas.openxmlformats.org/drawingml/2006/main">
            <a:r>
              <a:t>- Confirm logical reading order and run PowerPoint Accessibility Checker.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BUS311 Individual Company Capstone assignment brief, approved student release v1.4.0, Aug. 11, 2026.</a:t>
            </a:r>
          </a:p>
          <a:p xmlns:a="http://schemas.openxmlformats.org/drawingml/2006/main">
            <a:r>
              <a:t>- Explain why the tested range is evidence-based or clearly identified as a scenario assumption.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 TARGET: LIVE QUESTIONS ONLY</a:t>
            </a:r>
          </a:p>
          <a:p xmlns:a="http://schemas.openxmlformats.org/drawingml/2006/main">
            <a:r>
              <a:t>NARRATIVE JOB: Provide the traceability and AI judgment trail behind the Board briefing.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PRESENTATION GUIDANCE</a:t>
            </a:r>
          </a:p>
          <a:p xmlns:a="http://schemas.openxmlformats.org/drawingml/2006/main">
            <a:r>
              <a:t>- State the takeaway; do not narrate every element.</a:t>
            </a:r>
          </a:p>
          <a:p xmlns:a="http://schemas.openxmlformats.org/drawingml/2006/main">
            <a:r>
              <a:t>- Define units and periods aloud the first time they appear.</a:t>
            </a:r>
          </a:p>
          <a:p xmlns:a="http://schemas.openxmlformats.org/drawingml/2006/main">
            <a:r>
              <a:t>- Keep the core briefing within seven minutes; use appendix slides only for live questions.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EDIT AND ACCESSIBILITY CHECK</a:t>
            </a:r>
          </a:p>
          <a:p xmlns:a="http://schemas.openxmlformats.org/drawingml/2006/main">
            <a:r>
              <a:t>- Keep source labels legible; the appendix may expand details but cannot rescue an unsourced core claim.</a:t>
            </a:r>
          </a:p>
          <a:p xmlns:a="http://schemas.openxmlformats.org/drawingml/2006/main">
            <a:r>
              <a:t>- FactSet materials may be used in the course presentation but must remain within permitted course use and must not be publicly posted.</a:t>
            </a:r>
          </a:p>
          <a:p xmlns:a="http://schemas.openxmlformats.org/drawingml/2006/main">
            <a:r>
              <a:t>- Retain final C-A-P-A-J records in the required milestone artifact; summarize rather than reproducing raw AI output.</a:t>
            </a:r>
          </a:p>
          <a:p xmlns:a="http://schemas.openxmlformats.org/drawingml/2006/main">
            <a:r>
              <a:t>- Keep body text at 18 pt or larger; use concise, legible source notes.</a:t>
            </a:r>
          </a:p>
          <a:p xmlns:a="http://schemas.openxmlformats.org/drawingml/2006/main">
            <a:r>
              <a:t>- Use labels, patterns, or direct annotations so color is never the only cue.</a:t>
            </a:r>
          </a:p>
          <a:p xmlns:a="http://schemas.openxmlformats.org/drawingml/2006/main">
            <a:r>
              <a:t>- Give charts descriptive titles, labeled axes, units, periods, and meaningful alt text.</a:t>
            </a:r>
          </a:p>
          <a:p xmlns:a="http://schemas.openxmlformats.org/drawingml/2006/main">
            <a:r>
              <a:t>- Confirm logical reading order and run PowerPoint Accessibility Checker.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BUS311 Individual Company Capstone assignment brief, approved student release v1.4.0, Aug. 11, 2026.</a:t>
            </a:r>
          </a:p>
          <a:p xmlns:a="http://schemas.openxmlformats.org/drawingml/2006/main">
            <a:r>
              <a:t>- The assignment brief requires one maintained evidence register across the semester.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11a62339df438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2b845d9d6844f73" /><Relationship Type="http://schemas.openxmlformats.org/officeDocument/2006/relationships/slideLayout" Target="/ppt/slideLayouts/slideLayout1.xml" Id="Rf3e7df525ca9439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3e7df525ca9439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fe21d6554a4059" /><Relationship Type="http://schemas.openxmlformats.org/officeDocument/2006/relationships/notesSlide" Target="/ppt/notesSlides/notesSlide1.xml" Id="R4d215f7bc5554e9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d11e489f854cc7" /><Relationship Type="http://schemas.openxmlformats.org/officeDocument/2006/relationships/notesSlide" Target="/ppt/notesSlides/notesSlide2.xml" Id="R08b46a9b0371403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91534e14fb4754" /><Relationship Type="http://schemas.openxmlformats.org/officeDocument/2006/relationships/chart" Target="/ppt/slides/charts/chart1.xml" Id="R5f281a5839044235" /><Relationship Type="http://schemas.openxmlformats.org/officeDocument/2006/relationships/notesSlide" Target="/ppt/notesSlides/notesSlide3.xml" Id="R93c6e96b4ae544a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a7f33b733b4099" /><Relationship Type="http://schemas.openxmlformats.org/officeDocument/2006/relationships/notesSlide" Target="/ppt/notesSlides/notesSlide4.xml" Id="Rd09b7baac0f94b7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f4a09e757649dc" /><Relationship Type="http://schemas.openxmlformats.org/officeDocument/2006/relationships/chart" Target="/ppt/slides/charts/chart2.xml" Id="Rcb6ee8acf7fe405a" /><Relationship Type="http://schemas.openxmlformats.org/officeDocument/2006/relationships/notesSlide" Target="/ppt/notesSlides/notesSlide5.xml" Id="Re56ce3c05abc44b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b6522245764076" /><Relationship Type="http://schemas.openxmlformats.org/officeDocument/2006/relationships/chart" Target="/ppt/slides/charts/chart3.xml" Id="R45e1552fb2dd4ca4" /><Relationship Type="http://schemas.openxmlformats.org/officeDocument/2006/relationships/notesSlide" Target="/ppt/notesSlides/notesSlide6.xml" Id="Rc8aa65684b0b4d4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746774c4b243ad" /><Relationship Type="http://schemas.openxmlformats.org/officeDocument/2006/relationships/notesSlide" Target="/ppt/notesSlides/notesSlide7.xml" Id="R0f572d0b4645480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25ec43a594499a" /><Relationship Type="http://schemas.openxmlformats.org/officeDocument/2006/relationships/notesSlide" Target="/ppt/notesSlides/notesSlide8.xml" Id="R53937b34960243b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c69274e96840a4" /><Relationship Type="http://schemas.openxmlformats.org/officeDocument/2006/relationships/notesSlide" Target="/ppt/notesSlides/notesSlide9.xml" Id="Rb4f1820010a2411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ac32cb073348bb" /><Relationship Type="http://schemas.openxmlformats.org/officeDocument/2006/relationships/notesSlide" Target="/ppt/notesSlides/notesSlide10.xml" Id="Rcfef9fce28ab470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9e68d8fb2d4db7" /><Relationship Type="http://schemas.openxmlformats.org/officeDocument/2006/relationships/notesSlide" Target="/ppt/notesSlides/notesSlide11.xml" Id="R4babe9f8c8c3401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2eb0ce8ad6494d" /><Relationship Type="http://schemas.openxmlformats.org/officeDocument/2006/relationships/notesSlide" Target="/ppt/notesSlides/notesSlide12.xml" Id="Rc6800678bd6f46c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60b200499d4550" /><Relationship Type="http://schemas.openxmlformats.org/officeDocument/2006/relationships/notesSlide" Target="/ppt/notesSlides/notesSlide13.xml" Id="Rd5a5078ae3ed4f4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9f59e3cba24f3e" /><Relationship Type="http://schemas.openxmlformats.org/officeDocument/2006/relationships/notesSlide" Target="/ppt/notesSlides/notesSlide14.xml" Id="R4f3644866ced4bda" /></Relationships>
</file>

<file path=ppt/slides/charts/chart1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75" b="1">
                <a:solidFill>
                  <a:srgbClr val="0B1220"/>
                </a:solidFill>
              </a:rPr>
              <a:t>Revenue and material segments — normalized index (example only)</a:t>
            </a:r>
          </a:p>
        </c:rich>
      </c:tx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75" b="1">
              <a:solidFill>
                <a:srgbClr val="0B1220"/>
              </a:solidFill>
            </a:defRPr>
          </a:pPr>
        </a:p>
      </c:txPr>
    </c:title>
    <c:plotArea>
      <c:lineChart>
        <c:grouping val="standard"/>
        <c:varyColors val="0"/>
        <c:ser>
          <c:idx val="0"/>
          <c:order val="0"/>
          <c:tx>
            <c:v>Total revenue</c:v>
          </c:tx>
          <c:spPr>
            <a:ln xmlns:a="http://schemas.openxmlformats.org/drawingml/2006/main" w="28575">
              <a:solidFill>
                <a:srgbClr val="0B1220"/>
              </a:solidFill>
              <a:prstDash val="solid"/>
            </a:ln>
          </c:spPr>
          <c:marker>
            <c:symbol val="circle"/>
            <c:size val="7"/>
          </c:marker>
          <c:cat>
            <c:strLit>
              <c:ptCount val="5"/>
              <c:pt idx="0">
                <c:v>FY−4</c:v>
              </c:pt>
              <c:pt idx="1">
                <c:v>FY−3</c:v>
              </c:pt>
              <c:pt idx="2">
                <c:v>FY−2</c:v>
              </c:pt>
              <c:pt idx="3">
                <c:v>FY−1</c:v>
              </c:pt>
              <c:pt idx="4">
                <c:v>FY0</c:v>
              </c:pt>
            </c:strLit>
          </c:cat>
          <c:val>
            <c:numLit>
              <c:formatCode>General</c:formatCode>
              <c:ptCount val="5"/>
              <c:pt idx="0">
                <c:v>100</c:v>
              </c:pt>
              <c:pt idx="1">
                <c:v>104</c:v>
              </c:pt>
              <c:pt idx="2">
                <c:v>109</c:v>
              </c:pt>
              <c:pt idx="3">
                <c:v>115</c:v>
              </c:pt>
              <c:pt idx="4">
                <c:v>121</c:v>
              </c:pt>
            </c:numLit>
          </c:val>
        </c:ser>
        <c:ser>
          <c:idx val="1"/>
          <c:order val="1"/>
          <c:tx>
            <c:v>Segment A</c:v>
          </c:tx>
          <c:spPr>
            <a:ln xmlns:a="http://schemas.openxmlformats.org/drawingml/2006/main" w="28575">
              <a:solidFill>
                <a:srgbClr val="2474E6"/>
              </a:solidFill>
              <a:prstDash val="solid"/>
            </a:ln>
          </c:spPr>
          <c:marker>
            <c:symbol val="square"/>
            <c:size val="7"/>
          </c:marker>
          <c:cat>
            <c:strLit>
              <c:ptCount val="5"/>
              <c:pt idx="0">
                <c:v>FY−4</c:v>
              </c:pt>
              <c:pt idx="1">
                <c:v>FY−3</c:v>
              </c:pt>
              <c:pt idx="2">
                <c:v>FY−2</c:v>
              </c:pt>
              <c:pt idx="3">
                <c:v>FY−1</c:v>
              </c:pt>
              <c:pt idx="4">
                <c:v>FY0</c:v>
              </c:pt>
            </c:strLit>
          </c:cat>
          <c:val>
            <c:numLit>
              <c:formatCode>General</c:formatCode>
              <c:ptCount val="5"/>
              <c:pt idx="0">
                <c:v>100</c:v>
              </c:pt>
              <c:pt idx="1">
                <c:v>107</c:v>
              </c:pt>
              <c:pt idx="2">
                <c:v>115</c:v>
              </c:pt>
              <c:pt idx="3">
                <c:v>126</c:v>
              </c:pt>
              <c:pt idx="4">
                <c:v>139</c:v>
              </c:pt>
            </c:numLit>
          </c:val>
        </c:ser>
        <c:ser>
          <c:idx val="2"/>
          <c:order val="2"/>
          <c:tx>
            <c:v>Segment B</c:v>
          </c:tx>
          <c:spPr>
            <a:ln xmlns:a="http://schemas.openxmlformats.org/drawingml/2006/main" w="19050">
              <a:solidFill>
                <a:srgbClr val="536174"/>
              </a:solidFill>
              <a:prstDash val="dash"/>
            </a:ln>
          </c:spPr>
          <c:marker>
            <c:symbol val="diamond"/>
            <c:size val="7"/>
          </c:marker>
          <c:cat>
            <c:strLit>
              <c:ptCount val="5"/>
              <c:pt idx="0">
                <c:v>FY−4</c:v>
              </c:pt>
              <c:pt idx="1">
                <c:v>FY−3</c:v>
              </c:pt>
              <c:pt idx="2">
                <c:v>FY−2</c:v>
              </c:pt>
              <c:pt idx="3">
                <c:v>FY−1</c:v>
              </c:pt>
              <c:pt idx="4">
                <c:v>FY0</c:v>
              </c:pt>
            </c:strLit>
          </c:cat>
          <c:val>
            <c:numLit>
              <c:formatCode>General</c:formatCode>
              <c:ptCount val="5"/>
              <c:pt idx="0">
                <c:v>100</c:v>
              </c:pt>
              <c:pt idx="1">
                <c:v>101</c:v>
              </c:pt>
              <c:pt idx="2">
                <c:v>102</c:v>
              </c:pt>
              <c:pt idx="3">
                <c:v>103</c:v>
              </c:pt>
              <c:pt idx="4">
                <c:v>104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Fiscal period</a:t>
                </a:r>
              </a:p>
            </c:rich>
          </c:tx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36174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50"/>
          <c:min val="9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DE3EA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Index (FY−4 = 100)</a:t>
                </a:r>
              </a:p>
            </c:rich>
          </c:tx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36174"/>
                </a:solidFill>
              </a:defRPr>
            </a:pPr>
          </a:p>
        </c:txPr>
        <c:crossAx val="48650112"/>
        <c:crossBetween val="between"/>
        <c:majorUnit val="10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536174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9525">
      <a:solidFill>
        <a:srgbClr val="B8BCC4"/>
      </a:solidFill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75" b="1">
                <a:solidFill>
                  <a:srgbClr val="0B1220"/>
                </a:solidFill>
              </a:rPr>
              <a:t>Revenue forecast paths — normalized index (example only)</a:t>
            </a:r>
          </a:p>
        </c:rich>
      </c:tx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75" b="1">
              <a:solidFill>
                <a:srgbClr val="0B1220"/>
              </a:solidFill>
            </a:defRPr>
          </a:pPr>
        </a:p>
      </c:txPr>
    </c:title>
    <c:plotArea>
      <c:lineChart>
        <c:grouping val="standard"/>
        <c:varyColors val="0"/>
        <c:ser>
          <c:idx val="0"/>
          <c:order val="0"/>
          <c:tx>
            <c:v>Upside</c:v>
          </c:tx>
          <c:spPr>
            <a:ln xmlns:a="http://schemas.openxmlformats.org/drawingml/2006/main" w="28575">
              <a:solidFill>
                <a:srgbClr val="2474E6"/>
              </a:solidFill>
              <a:prstDash val="solid"/>
            </a:ln>
          </c:spPr>
          <c:marker>
            <c:symbol val="triangle"/>
            <c:size val="7"/>
          </c:marker>
          <c:cat>
            <c:strLit>
              <c:ptCount val="5"/>
              <c:pt idx="0">
                <c:v>FY1</c:v>
              </c:pt>
              <c:pt idx="1">
                <c:v>FY2</c:v>
              </c:pt>
              <c:pt idx="2">
                <c:v>FY3</c:v>
              </c:pt>
              <c:pt idx="3">
                <c:v>FY4</c:v>
              </c:pt>
              <c:pt idx="4">
                <c:v>FY5</c:v>
              </c:pt>
            </c:strLit>
          </c:cat>
          <c:val>
            <c:numLit>
              <c:formatCode>General</c:formatCode>
              <c:ptCount val="5"/>
              <c:pt idx="0">
                <c:v>106</c:v>
              </c:pt>
              <c:pt idx="1">
                <c:v>114</c:v>
              </c:pt>
              <c:pt idx="2">
                <c:v>123</c:v>
              </c:pt>
              <c:pt idx="3">
                <c:v>133</c:v>
              </c:pt>
              <c:pt idx="4">
                <c:v>144</c:v>
              </c:pt>
            </c:numLit>
          </c:val>
        </c:ser>
        <c:ser>
          <c:idx val="1"/>
          <c:order val="1"/>
          <c:tx>
            <c:v>Base</c:v>
          </c:tx>
          <c:spPr>
            <a:ln xmlns:a="http://schemas.openxmlformats.org/drawingml/2006/main" w="28575">
              <a:solidFill>
                <a:srgbClr val="0B1220"/>
              </a:solidFill>
              <a:prstDash val="solid"/>
            </a:ln>
          </c:spPr>
          <c:marker>
            <c:symbol val="circle"/>
            <c:size val="7"/>
          </c:marker>
          <c:cat>
            <c:strLit>
              <c:ptCount val="5"/>
              <c:pt idx="0">
                <c:v>FY1</c:v>
              </c:pt>
              <c:pt idx="1">
                <c:v>FY2</c:v>
              </c:pt>
              <c:pt idx="2">
                <c:v>FY3</c:v>
              </c:pt>
              <c:pt idx="3">
                <c:v>FY4</c:v>
              </c:pt>
              <c:pt idx="4">
                <c:v>FY5</c:v>
              </c:pt>
            </c:strLit>
          </c:cat>
          <c:val>
            <c:numLit>
              <c:formatCode>General</c:formatCode>
              <c:ptCount val="5"/>
              <c:pt idx="0">
                <c:v>104</c:v>
              </c:pt>
              <c:pt idx="1">
                <c:v>109</c:v>
              </c:pt>
              <c:pt idx="2">
                <c:v>115</c:v>
              </c:pt>
              <c:pt idx="3">
                <c:v>121</c:v>
              </c:pt>
              <c:pt idx="4">
                <c:v>128</c:v>
              </c:pt>
            </c:numLit>
          </c:val>
        </c:ser>
        <c:ser>
          <c:idx val="2"/>
          <c:order val="2"/>
          <c:tx>
            <c:v>Downside</c:v>
          </c:tx>
          <c:spPr>
            <a:ln xmlns:a="http://schemas.openxmlformats.org/drawingml/2006/main" w="28575">
              <a:solidFill>
                <a:srgbClr val="536174"/>
              </a:solidFill>
              <a:prstDash val="dash"/>
            </a:ln>
          </c:spPr>
          <c:marker>
            <c:symbol val="square"/>
            <c:size val="7"/>
          </c:marker>
          <c:cat>
            <c:strLit>
              <c:ptCount val="5"/>
              <c:pt idx="0">
                <c:v>FY1</c:v>
              </c:pt>
              <c:pt idx="1">
                <c:v>FY2</c:v>
              </c:pt>
              <c:pt idx="2">
                <c:v>FY3</c:v>
              </c:pt>
              <c:pt idx="3">
                <c:v>FY4</c:v>
              </c:pt>
              <c:pt idx="4">
                <c:v>FY5</c:v>
              </c:pt>
            </c:strLit>
          </c:cat>
          <c:val>
            <c:numLit>
              <c:formatCode>General</c:formatCode>
              <c:ptCount val="5"/>
              <c:pt idx="0">
                <c:v>101</c:v>
              </c:pt>
              <c:pt idx="1">
                <c:v>102</c:v>
              </c:pt>
              <c:pt idx="2">
                <c:v>103</c:v>
              </c:pt>
              <c:pt idx="3">
                <c:v>104</c:v>
              </c:pt>
              <c:pt idx="4">
                <c:v>105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Forecast fiscal year</a:t>
                </a:r>
              </a:p>
            </c:rich>
          </c:tx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36174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50"/>
          <c:min val="9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DE3EA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Index (latest actual = 100)</a:t>
                </a:r>
              </a:p>
            </c:rich>
          </c:tx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36174"/>
                </a:solidFill>
              </a:defRPr>
            </a:pPr>
          </a:p>
        </c:txPr>
        <c:crossAx val="48650112"/>
        <c:crossBetween val="between"/>
        <c:majorUnit val="10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536174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9525">
      <a:solidFill>
        <a:srgbClr val="B8BCC4"/>
      </a:solidFill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275" b="1">
                <a:solidFill>
                  <a:srgbClr val="0B1220"/>
                </a:solidFill>
              </a:rPr>
              <a:t>Decision value by scenario — normalized index (example only)</a:t>
            </a:r>
          </a:p>
        </c:rich>
      </c:tx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75" b="1">
              <a:solidFill>
                <a:srgbClr val="0B1220"/>
              </a:solidFill>
            </a:defRPr>
          </a:pPr>
        </a:p>
      </c:txPr>
    </c:title>
    <c:plotArea>
      <c:barChart>
        <c:barDir val="col"/>
        <c:grouping val="clustered"/>
        <c:varyColors val="1"/>
        <c:ser>
          <c:idx val="0"/>
          <c:order val="0"/>
          <c:tx>
            <c:v>Value index</c:v>
          </c:tx>
          <c:spPr>
            <a:solidFill xmlns:a="http://schemas.openxmlformats.org/drawingml/2006/main">
              <a:srgbClr val="2474E6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536174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0B1220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2474E6"/>
              </a:solidFill>
            </c:spPr>
          </c:dPt>
          <c:cat>
            <c:strLit>
              <c:ptCount val="3"/>
              <c:pt idx="0">
                <c:v>Downside</c:v>
              </c:pt>
              <c:pt idx="1">
                <c:v>Base</c:v>
              </c:pt>
              <c:pt idx="2">
                <c:v>Upside</c:v>
              </c:pt>
            </c:strLit>
          </c:cat>
          <c:val>
            <c:numLit>
              <c:formatCode>General</c:formatCode>
              <c:ptCount val="3"/>
              <c:pt idx="0">
                <c:v>80</c:v>
              </c:pt>
              <c:pt idx="1">
                <c:v>100</c:v>
              </c:pt>
              <c:pt idx="2">
                <c:v>120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 b="1">
                  <a:solidFill>
                    <a:srgbClr val="0B12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536174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4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DE3EA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Value index (base = 100)</a:t>
                </a:r>
              </a:p>
            </c:rich>
          </c:tx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536174"/>
                </a:solidFill>
              </a:defRPr>
            </a:pPr>
          </a:p>
        </c:txPr>
        <c:crossAx val="48650112"/>
        <c:crossBetween val="between"/>
        <c:majorUnit val="20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9525">
      <a:solidFill>
        <a:srgbClr val="B8BCC4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course-label">
            <a:extLst xmlns:a="http://schemas.openxmlformats.org/drawingml/2006/main">
              <a:ext uri="{FF2B5EF4-FFF2-40B4-BE49-F238E27FC236}">
                <a16:creationId xmlns:a16="http://schemas.microsoft.com/office/drawing/2014/main" id="{9CC9E920-6111-4A5D-8E69-F0E605DD3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BUS311  •  INDIVIDUAL COMPANY CAPSTONE</a:t>
            </a:r>
          </a:p>
        </p:txBody>
      </p:sp>
      <p:sp>
        <p:nvSpPr>
          <p:cNvPr id="2" name="company-line">
            <a:extLst xmlns:a="http://schemas.openxmlformats.org/drawingml/2006/main">
              <a:ext uri="{FF2B5EF4-FFF2-40B4-BE49-F238E27FC236}">
                <a16:creationId xmlns:a16="http://schemas.microsoft.com/office/drawing/2014/main" id="{95FC3340-3C09-4F12-BC1C-A4E02C742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23850"/>
            <a:ext cx="413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36174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36174"/>
                </a:solidFill>
                <a:latin typeface="Aptos"/>
                <a:ea typeface="Aptos"/>
                <a:cs typeface="Aptos"/>
              </a:rPr>
              <a:t>[COMPANY]  •  [TICKER]  •  [STUDENT]  •  [DATE]</a:t>
            </a:r>
          </a:p>
        </p:txBody>
      </p:sp>
      <p:sp>
        <p:nvSpPr>
          <p:cNvPr id="3" name="decision-title">
            <a:extLst xmlns:a="http://schemas.openxmlformats.org/drawingml/2006/main">
              <a:ext uri="{FF2B5EF4-FFF2-40B4-BE49-F238E27FC236}">
                <a16:creationId xmlns:a16="http://schemas.microsoft.com/office/drawing/2014/main" id="{C20B01C9-E257-41CB-981A-3E063FB55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28700"/>
            <a:ext cx="80010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566"/>
          </a:bodyPr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39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The Board should [approve / reject / modify] [specific CFO action]</a:t>
            </a:r>
          </a:p>
        </p:txBody>
      </p:sp>
      <p:sp>
        <p:nvSpPr>
          <p:cNvPr id="4" name="decision-accent">
            <a:extLst xmlns:a="http://schemas.openxmlformats.org/drawingml/2006/main">
              <a:ext uri="{FF2B5EF4-FFF2-40B4-BE49-F238E27FC236}">
                <a16:creationId xmlns:a16="http://schemas.microsoft.com/office/drawing/2014/main" id="{694C6BE4-1CD3-443A-B1EA-190B0403A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952500"/>
            <a:ext cx="28003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4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decision-ask-label">
            <a:extLst xmlns:a="http://schemas.openxmlformats.org/drawingml/2006/main">
              <a:ext uri="{FF2B5EF4-FFF2-40B4-BE49-F238E27FC236}">
                <a16:creationId xmlns:a16="http://schemas.microsoft.com/office/drawing/2014/main" id="{687F0DFF-47E2-4ACF-A77D-D516BBA41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181100"/>
            <a:ext cx="2266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DECISION REQUESTED</a:t>
            </a:r>
          </a:p>
        </p:txBody>
      </p:sp>
      <p:sp>
        <p:nvSpPr>
          <p:cNvPr id="6" name="decision-ask">
            <a:extLst xmlns:a="http://schemas.openxmlformats.org/drawingml/2006/main">
              <a:ext uri="{FF2B5EF4-FFF2-40B4-BE49-F238E27FC236}">
                <a16:creationId xmlns:a16="http://schemas.microsoft.com/office/drawing/2014/main" id="{6F851B9A-038F-4E87-B9A8-C3671C1D3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504950"/>
            <a:ext cx="22669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[One sentence: what the CFO and Board must decide now]</a:t>
            </a:r>
          </a:p>
        </p:txBody>
      </p:sp>
      <p:sp>
        <p:nvSpPr>
          <p:cNvPr id="7" name="recommendation-label">
            <a:extLst xmlns:a="http://schemas.openxmlformats.org/drawingml/2006/main">
              <a:ext uri="{FF2B5EF4-FFF2-40B4-BE49-F238E27FC236}">
                <a16:creationId xmlns:a16="http://schemas.microsoft.com/office/drawing/2014/main" id="{19634BA9-1EA3-40BC-B848-D3DA5DD98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908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RECOMMENDATION</a:t>
            </a:r>
          </a:p>
        </p:txBody>
      </p:sp>
      <p:sp>
        <p:nvSpPr>
          <p:cNvPr id="8" name="recommendation">
            <a:extLst xmlns:a="http://schemas.openxmlformats.org/drawingml/2006/main">
              <a:ext uri="{FF2B5EF4-FFF2-40B4-BE49-F238E27FC236}">
                <a16:creationId xmlns:a16="http://schemas.microsoft.com/office/drawing/2014/main" id="{E3579229-7277-4C7E-A065-5E4CB58E0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333750"/>
            <a:ext cx="685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[State the action, scale, timing, and decision rule in one sentence.]</a:t>
            </a:r>
          </a:p>
        </p:txBody>
      </p:sp>
      <p:sp>
        <p:nvSpPr>
          <p:cNvPr id="9" name="thesis-rule">
            <a:extLst xmlns:a="http://schemas.openxmlformats.org/drawingml/2006/main">
              <a:ext uri="{FF2B5EF4-FFF2-40B4-BE49-F238E27FC236}">
                <a16:creationId xmlns:a16="http://schemas.microsoft.com/office/drawing/2014/main" id="{3632F61F-2AE7-4AA2-859E-9FF39EBD8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00550"/>
            <a:ext cx="11125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thesis-1">
            <a:extLst xmlns:a="http://schemas.openxmlformats.org/drawingml/2006/main">
              <a:ext uri="{FF2B5EF4-FFF2-40B4-BE49-F238E27FC236}">
                <a16:creationId xmlns:a16="http://schemas.microsoft.com/office/drawing/2014/main" id="{5DBFF91B-A0D8-4219-B1BF-D71C9800E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48200"/>
            <a:ext cx="3238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WHY NOW</a:t>
            </a:r>
          </a:p>
          <a:p xmlns:a="http://schemas.openxmlformats.org/drawingml/2006/main">
            <a:pPr algn="l">
              <a:buNone/>
              <a:defRPr sz="14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[Operating evidence that creates urgency]</a:t>
            </a:r>
          </a:p>
        </p:txBody>
      </p:sp>
      <p:sp>
        <p:nvSpPr>
          <p:cNvPr id="11" name="thesis-2">
            <a:extLst xmlns:a="http://schemas.openxmlformats.org/drawingml/2006/main">
              <a:ext uri="{FF2B5EF4-FFF2-40B4-BE49-F238E27FC236}">
                <a16:creationId xmlns:a16="http://schemas.microsoft.com/office/drawing/2014/main" id="{A111EF1E-55F6-452B-9ABB-6ED696408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648200"/>
            <a:ext cx="3238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VALUE AT STAKE</a:t>
            </a:r>
          </a:p>
          <a:p xmlns:a="http://schemas.openxmlformats.org/drawingml/2006/main">
            <a:pPr algn="l">
              <a:buNone/>
              <a:defRPr sz="14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[Scenario or valuation implication]</a:t>
            </a:r>
          </a:p>
        </p:txBody>
      </p:sp>
      <p:sp>
        <p:nvSpPr>
          <p:cNvPr id="12" name="thesis-3">
            <a:extLst xmlns:a="http://schemas.openxmlformats.org/drawingml/2006/main">
              <a:ext uri="{FF2B5EF4-FFF2-40B4-BE49-F238E27FC236}">
                <a16:creationId xmlns:a16="http://schemas.microsoft.com/office/drawing/2014/main" id="{6FF4B99C-27BA-4FFD-81CA-B836468A9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648200"/>
            <a:ext cx="3238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CONTROL POINT</a:t>
            </a:r>
          </a:p>
          <a:p xmlns:a="http://schemas.openxmlformats.org/drawingml/2006/main">
            <a:pPr algn="l">
              <a:buNone/>
              <a:defRPr sz="14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[Trigger that changes the recommendation]</a:t>
            </a:r>
          </a:p>
        </p:txBody>
      </p:sp>
      <p:sp>
        <p:nvSpPr>
          <p:cNvPr id="13" name="footer-rule-1">
            <a:extLst xmlns:a="http://schemas.openxmlformats.org/drawingml/2006/main">
              <a:ext uri="{FF2B5EF4-FFF2-40B4-BE49-F238E27FC236}">
                <a16:creationId xmlns:a16="http://schemas.microsoft.com/office/drawing/2014/main" id="{E37D46BF-2DC6-4080-AB26-A6CB0583B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05550"/>
            <a:ext cx="11125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footer-source-1">
            <a:extLst xmlns:a="http://schemas.openxmlformats.org/drawingml/2006/main">
              <a:ext uri="{FF2B5EF4-FFF2-40B4-BE49-F238E27FC236}">
                <a16:creationId xmlns:a16="http://schemas.microsoft.com/office/drawing/2014/main" id="{7A6E4495-FC80-4DE8-9F27-99468808C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81750"/>
            <a:ext cx="971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3617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36174"/>
                </a:solidFill>
                <a:latin typeface="Aptos"/>
                <a:ea typeface="Aptos"/>
                <a:cs typeface="Aptos"/>
              </a:rPr>
              <a:t>Source: [S1 / F1 / M1 IDs supporting the decision; dates and definitions]  •  AI is not a source</a:t>
            </a:r>
          </a:p>
        </p:txBody>
      </p:sp>
      <p:sp>
        <p:nvSpPr>
          <p:cNvPr id="15" name="footer-page-1">
            <a:extLst xmlns:a="http://schemas.openxmlformats.org/drawingml/2006/main">
              <a:ext uri="{FF2B5EF4-FFF2-40B4-BE49-F238E27FC236}">
                <a16:creationId xmlns:a16="http://schemas.microsoft.com/office/drawing/2014/main" id="{120B2E06-6C7F-4A1D-9DF3-942CFA85F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817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36174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36174"/>
                </a:solidFill>
                <a:latin typeface="Aptos"/>
                <a:ea typeface="Aptos"/>
                <a:cs typeface="Aptos"/>
              </a:rPr>
              <a:t>CORE 01/10  •  01</a:t>
            </a:r>
          </a:p>
        </p:txBody>
      </p:sp>
    </p:spTree>
    <p:extLst>
      <p:ext uri="{BB962C8B-B14F-4D97-AF65-F5344CB8AC3E}">
        <p14:creationId xmlns:p14="http://schemas.microsoft.com/office/powerpoint/2010/main" val="18195220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kicker-2">
            <a:extLst xmlns:a="http://schemas.openxmlformats.org/drawingml/2006/main">
              <a:ext uri="{FF2B5EF4-FFF2-40B4-BE49-F238E27FC236}">
                <a16:creationId xmlns:a16="http://schemas.microsoft.com/office/drawing/2014/main" id="{6386492F-4E96-45A2-9A49-2A6218E13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CORE EVIDENCE  •  REVENUE ENGINE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724C8A7F-4425-444F-A9F3-692EE3322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11252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The revenue engine turns [customer need] into [economic value]</a:t>
            </a:r>
          </a:p>
        </p:txBody>
      </p:sp>
      <p:sp>
        <p:nvSpPr>
          <p:cNvPr id="3" name="engine-thesis">
            <a:extLst xmlns:a="http://schemas.openxmlformats.org/drawingml/2006/main">
              <a:ext uri="{FF2B5EF4-FFF2-40B4-BE49-F238E27FC236}">
                <a16:creationId xmlns:a16="http://schemas.microsoft.com/office/drawing/2014/main" id="{DCFD69C6-D4D2-4E28-B6F3-EC362E15A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90625"/>
            <a:ext cx="11125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[One-sentence operating thesis: where sales come from and which management lever matters most.]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533400" y="1924050"/>
          <a:ext xmlns:a="http://schemas.openxmlformats.org/drawingml/2006/main" cx="11125200" cy="27241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238375"/>
                <a:gridCol w="2667000"/>
                <a:gridCol w="2857500"/>
                <a:gridCol w="3362325"/>
              </a:tblGrid>
              <a:tr h="681038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Offer / segment</a:t>
                      </a:r>
                    </a:p>
                  </a:txBody>
                  <a:tcPr marL="91440" marR="91440" marT="45720" marB="45720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Customer + channel</a:t>
                      </a:r>
                    </a:p>
                  </a:txBody>
                  <a:tcPr marL="91440" marR="91440" marT="45720" marB="45720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Revenue mechanic</a:t>
                      </a:r>
                    </a:p>
                  </a:txBody>
                  <a:tcPr marL="91440" marR="91440" marT="45720" marB="45720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CFO lever + leading indicator</a:t>
                      </a:r>
                    </a:p>
                  </a:txBody>
                  <a:tcPr marL="91440" marR="91440" marT="45720" marB="45720">
                    <a:solidFill>
                      <a:srgbClr val="0B1220"/>
                    </a:solidFill>
                  </a:tcPr>
                </a:tc>
              </a:tr>
              <a:tr h="681038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[Segment A]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[Who buys / how sold]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[Price × volume / usage / mix]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[Lever]  •  [Indicator]</a:t>
                      </a:r>
                    </a:p>
                  </a:txBody>
                  <a:tcPr marL="91440" marR="91440" marT="45720" marB="45720"/>
                </a:tc>
              </a:tr>
              <a:tr h="681038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[Segment B]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[Who buys / how sold]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[Subscription / transaction / contract]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[Lever]  •  [Indicator]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</a:tr>
              <a:tr h="681038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[Segment C]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[Who buys / how sold]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[Company-specific mechanic]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[Lever]  •  [Indicator]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engine-question">
            <a:extLst xmlns:a="http://schemas.openxmlformats.org/drawingml/2006/main">
              <a:ext uri="{FF2B5EF4-FFF2-40B4-BE49-F238E27FC236}">
                <a16:creationId xmlns:a16="http://schemas.microsoft.com/office/drawing/2014/main" id="{B913E033-AEB5-41B5-A850-0DA1DBA31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53000"/>
            <a:ext cx="111252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engine-question-label">
            <a:extLst xmlns:a="http://schemas.openxmlformats.org/drawingml/2006/main">
              <a:ext uri="{FF2B5EF4-FFF2-40B4-BE49-F238E27FC236}">
                <a16:creationId xmlns:a16="http://schemas.microsoft.com/office/drawing/2014/main" id="{AECE3A39-A97D-46FF-9735-6E72BBC24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2445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SO WHAT FOR THE DECISION?</a:t>
            </a:r>
          </a:p>
        </p:txBody>
      </p:sp>
      <p:sp>
        <p:nvSpPr>
          <p:cNvPr id="7" name="engine-question-text">
            <a:extLst xmlns:a="http://schemas.openxmlformats.org/drawingml/2006/main">
              <a:ext uri="{FF2B5EF4-FFF2-40B4-BE49-F238E27FC236}">
                <a16:creationId xmlns:a16="http://schemas.microsoft.com/office/drawing/2014/main" id="{8B999BB3-8F39-4589-BD9A-9A4EE3B55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29250"/>
            <a:ext cx="1038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[Identify the one driver the recommendation changes, protects, funds, or puts at risk.]</a:t>
            </a:r>
          </a:p>
        </p:txBody>
      </p:sp>
      <p:sp>
        <p:nvSpPr>
          <p:cNvPr id="8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DB5F26E3-22EC-47CF-B92D-5BC4C12C9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05550"/>
            <a:ext cx="11125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footer-source-2">
            <a:extLst xmlns:a="http://schemas.openxmlformats.org/drawingml/2006/main">
              <a:ext uri="{FF2B5EF4-FFF2-40B4-BE49-F238E27FC236}">
                <a16:creationId xmlns:a16="http://schemas.microsoft.com/office/drawing/2014/main" id="{C9593943-0028-4983-8341-7F0BC975D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81750"/>
            <a:ext cx="971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3617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36174"/>
                </a:solidFill>
                <a:latin typeface="Aptos"/>
                <a:ea typeface="Aptos"/>
                <a:cs typeface="Aptos"/>
              </a:rPr>
              <a:t>Source: [SEC filing + date + table/item]  •  [FactSet item + data-through date]  •  Definitions in notes</a:t>
            </a:r>
          </a:p>
        </p:txBody>
      </p:sp>
      <p:sp>
        <p:nvSpPr>
          <p:cNvPr id="10" name="footer-page-2">
            <a:extLst xmlns:a="http://schemas.openxmlformats.org/drawingml/2006/main">
              <a:ext uri="{FF2B5EF4-FFF2-40B4-BE49-F238E27FC236}">
                <a16:creationId xmlns:a16="http://schemas.microsoft.com/office/drawing/2014/main" id="{CF580E44-0824-49FD-A744-431391616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817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36174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36174"/>
                </a:solidFill>
                <a:latin typeface="Aptos"/>
                <a:ea typeface="Aptos"/>
                <a:cs typeface="Aptos"/>
              </a:rPr>
              <a:t>CORE 02/10  •  02</a:t>
            </a:r>
          </a:p>
        </p:txBody>
      </p:sp>
    </p:spTree>
    <p:extLst>
      <p:ext uri="{BB962C8B-B14F-4D97-AF65-F5344CB8AC3E}">
        <p14:creationId xmlns:p14="http://schemas.microsoft.com/office/powerpoint/2010/main" val="27146181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kicker-3">
            <a:extLst xmlns:a="http://schemas.openxmlformats.org/drawingml/2006/main">
              <a:ext uri="{FF2B5EF4-FFF2-40B4-BE49-F238E27FC236}">
                <a16:creationId xmlns:a16="http://schemas.microsoft.com/office/drawing/2014/main" id="{5D62EFA1-A980-405C-9E99-B003DEB5D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CORE EVIDENCE  •  HISTORICAL SALES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D106E8FE-1F3A-40A4-B1F1-F7804A146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11252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Sales moved because [driver], not time</a:t>
            </a:r>
          </a:p>
        </p:txBody>
      </p:sp>
      <p:sp>
        <p:nvSpPr>
          <p:cNvPr id="3" name="placeholder-56-122">
            <a:extLst xmlns:a="http://schemas.openxmlformats.org/drawingml/2006/main">
              <a:ext uri="{FF2B5EF4-FFF2-40B4-BE49-F238E27FC236}">
                <a16:creationId xmlns:a16="http://schemas.microsoft.com/office/drawing/2014/main" id="{22A741F0-892F-4966-8252-33B16E331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620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ILLUSTRATIVE PLACEHOLDER — REPLACE WITH VERIFIED COMPANY DATA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533400" y="1428750"/>
          <a:ext xmlns:a="http://schemas.openxmlformats.org/drawingml/2006/main" cx="7000875" cy="3857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f281a5839044235"/>
          </a:graphicData>
        </a:graphic>
      </p:graphicFrame>
      <p:sp>
        <p:nvSpPr>
          <p:cNvPr id="5" name="driver-head">
            <a:extLst xmlns:a="http://schemas.openxmlformats.org/drawingml/2006/main">
              <a:ext uri="{FF2B5EF4-FFF2-40B4-BE49-F238E27FC236}">
                <a16:creationId xmlns:a16="http://schemas.microsoft.com/office/drawing/2014/main" id="{355B9A92-CB05-4A53-94D5-582581B40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4287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DRIVER DECOMPOSITION</a:t>
            </a:r>
          </a:p>
        </p:txBody>
      </p:sp>
      <p:sp>
        <p:nvSpPr>
          <p:cNvPr id="6" name="driver-body">
            <a:extLst xmlns:a="http://schemas.openxmlformats.org/drawingml/2006/main">
              <a:ext uri="{FF2B5EF4-FFF2-40B4-BE49-F238E27FC236}">
                <a16:creationId xmlns:a16="http://schemas.microsoft.com/office/drawing/2014/main" id="{517393D3-2FDF-4000-A60D-4D31B274B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809750"/>
            <a:ext cx="3429000" cy="2724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lIns="171450" tIns="171450" rIns="171450" bIns="1714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1  [Price / rate]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2  [Volume / usage]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3  [Mix / geography]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4  [Currency / M&amp;A / locations]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Repeatable: [____]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Temporary: [____]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Not disclosed: [____]</a:t>
            </a:r>
          </a:p>
        </p:txBody>
      </p:sp>
      <p:sp>
        <p:nvSpPr>
          <p:cNvPr id="7" name="driver-so-what">
            <a:extLst xmlns:a="http://schemas.openxmlformats.org/drawingml/2006/main">
              <a:ext uri="{FF2B5EF4-FFF2-40B4-BE49-F238E27FC236}">
                <a16:creationId xmlns:a16="http://schemas.microsoft.com/office/drawing/2014/main" id="{ABFF71C9-1C3F-49A8-8951-C235223B4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762500"/>
            <a:ext cx="342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Decision implication: [Which historical driver is financeable, controllable, and likely to persist?]</a:t>
            </a:r>
          </a:p>
        </p:txBody>
      </p:sp>
      <p:sp>
        <p:nvSpPr>
          <p:cNvPr id="8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13DC0D37-7674-4B15-80C8-B67DE8781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05550"/>
            <a:ext cx="11125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footer-source-3">
            <a:extLst xmlns:a="http://schemas.openxmlformats.org/drawingml/2006/main">
              <a:ext uri="{FF2B5EF4-FFF2-40B4-BE49-F238E27FC236}">
                <a16:creationId xmlns:a16="http://schemas.microsoft.com/office/drawing/2014/main" id="{1845D3A3-29BD-4C3D-B9B0-C875EB894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81750"/>
            <a:ext cx="971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3617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36174"/>
                </a:solidFill>
                <a:latin typeface="Aptos"/>
                <a:ea typeface="Aptos"/>
                <a:cs typeface="Aptos"/>
              </a:rPr>
              <a:t>Source: [S# / F#]  •  Fiscal years [____–____]  •  Currency/units [____]  •  Metric definition [____]</a:t>
            </a:r>
          </a:p>
        </p:txBody>
      </p:sp>
      <p:sp>
        <p:nvSpPr>
          <p:cNvPr id="10" name="footer-page-3">
            <a:extLst xmlns:a="http://schemas.openxmlformats.org/drawingml/2006/main">
              <a:ext uri="{FF2B5EF4-FFF2-40B4-BE49-F238E27FC236}">
                <a16:creationId xmlns:a16="http://schemas.microsoft.com/office/drawing/2014/main" id="{1264CC6F-7487-4903-A330-4FD70BCCA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817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36174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36174"/>
                </a:solidFill>
                <a:latin typeface="Aptos"/>
                <a:ea typeface="Aptos"/>
                <a:cs typeface="Aptos"/>
              </a:rPr>
              <a:t>CORE 03/10  •  03</a:t>
            </a:r>
          </a:p>
        </p:txBody>
      </p:sp>
    </p:spTree>
    <p:extLst>
      <p:ext uri="{BB962C8B-B14F-4D97-AF65-F5344CB8AC3E}">
        <p14:creationId xmlns:p14="http://schemas.microsoft.com/office/powerpoint/2010/main" val="87195886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kicker-4">
            <a:extLst xmlns:a="http://schemas.openxmlformats.org/drawingml/2006/main">
              <a:ext uri="{FF2B5EF4-FFF2-40B4-BE49-F238E27FC236}">
                <a16:creationId xmlns:a16="http://schemas.microsoft.com/office/drawing/2014/main" id="{9E1BC095-00FE-4E8B-A327-25E669BF1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CORE EVIDENCE  •  TESTABLE HYPOTHESIS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B33923BF-2DD3-410A-AB41-79D7010CC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11252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The red team [confirmed / changed] the hypothesis</a:t>
            </a:r>
          </a:p>
        </p:txBody>
      </p:sp>
      <p:sp>
        <p:nvSpPr>
          <p:cNvPr id="3" name="hyp-left">
            <a:extLst xmlns:a="http://schemas.openxmlformats.org/drawingml/2006/main">
              <a:ext uri="{FF2B5EF4-FFF2-40B4-BE49-F238E27FC236}">
                <a16:creationId xmlns:a16="http://schemas.microsoft.com/office/drawing/2014/main" id="{C5F611FB-9B83-4B5E-B26E-BB50088FD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52550"/>
            <a:ext cx="3295650" cy="386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4" name="hyp-mid">
            <a:extLst xmlns:a="http://schemas.openxmlformats.org/drawingml/2006/main">
              <a:ext uri="{FF2B5EF4-FFF2-40B4-BE49-F238E27FC236}">
                <a16:creationId xmlns:a16="http://schemas.microsoft.com/office/drawing/2014/main" id="{C95BDBFC-D6EA-4B66-A145-1012F31F9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8175" y="1352550"/>
            <a:ext cx="3295650" cy="386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D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</p:sp>
      <p:sp>
        <p:nvSpPr>
          <p:cNvPr id="5" name="hyp-right">
            <a:extLst xmlns:a="http://schemas.openxmlformats.org/drawingml/2006/main">
              <a:ext uri="{FF2B5EF4-FFF2-40B4-BE49-F238E27FC236}">
                <a16:creationId xmlns:a16="http://schemas.microsoft.com/office/drawing/2014/main" id="{410637B3-D4F2-4AA9-BD7B-8886E49D2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352550"/>
            <a:ext cx="3295650" cy="386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6" name="hyp-lab1">
            <a:extLst xmlns:a="http://schemas.openxmlformats.org/drawingml/2006/main">
              <a:ext uri="{FF2B5EF4-FFF2-40B4-BE49-F238E27FC236}">
                <a16:creationId xmlns:a16="http://schemas.microsoft.com/office/drawing/2014/main" id="{23308E4F-4E40-41A3-B55F-9F992ECCE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621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1  ORIGINAL HYPOTHESIS</a:t>
            </a:r>
          </a:p>
        </p:txBody>
      </p:sp>
      <p:sp>
        <p:nvSpPr>
          <p:cNvPr id="7" name="hyp-txt1">
            <a:extLst xmlns:a="http://schemas.openxmlformats.org/drawingml/2006/main">
              <a:ext uri="{FF2B5EF4-FFF2-40B4-BE49-F238E27FC236}">
                <a16:creationId xmlns:a16="http://schemas.microsoft.com/office/drawing/2014/main" id="{860DCC9C-3132-4C65-B4E3-BF456B338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00250"/>
            <a:ext cx="28575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[Mechanism] will [directional or measurable effect] over [period] because [operating logic].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Falsified if: [observable evidence]</a:t>
            </a:r>
          </a:p>
        </p:txBody>
      </p:sp>
      <p:sp>
        <p:nvSpPr>
          <p:cNvPr id="8" name="hyp-lab2">
            <a:extLst xmlns:a="http://schemas.openxmlformats.org/drawingml/2006/main">
              <a:ext uri="{FF2B5EF4-FFF2-40B4-BE49-F238E27FC236}">
                <a16:creationId xmlns:a16="http://schemas.microsoft.com/office/drawing/2014/main" id="{2FFBE690-ABF0-4015-85EE-D9ED3533B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5621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2  STRONGEST CHALLENGE</a:t>
            </a:r>
          </a:p>
        </p:txBody>
      </p:sp>
      <p:sp>
        <p:nvSpPr>
          <p:cNvPr id="9" name="hyp-txt2">
            <a:extLst xmlns:a="http://schemas.openxmlformats.org/drawingml/2006/main">
              <a:ext uri="{FF2B5EF4-FFF2-40B4-BE49-F238E27FC236}">
                <a16:creationId xmlns:a16="http://schemas.microsoft.com/office/drawing/2014/main" id="{F5A91A02-DCBA-415C-974E-BA7BFE64F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000250"/>
            <a:ext cx="28575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[Alternative explanation / missing variable / scenario risk]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Checked: [evidence]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Finding: [what the evidence showed]</a:t>
            </a:r>
          </a:p>
        </p:txBody>
      </p:sp>
      <p:sp>
        <p:nvSpPr>
          <p:cNvPr id="10" name="hyp-lab3">
            <a:extLst xmlns:a="http://schemas.openxmlformats.org/drawingml/2006/main">
              <a:ext uri="{FF2B5EF4-FFF2-40B4-BE49-F238E27FC236}">
                <a16:creationId xmlns:a16="http://schemas.microsoft.com/office/drawing/2014/main" id="{420AF305-F518-4E31-9EF8-025D50BAE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5621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3  STUDENT JUDGMENT</a:t>
            </a:r>
          </a:p>
        </p:txBody>
      </p:sp>
      <p:sp>
        <p:nvSpPr>
          <p:cNvPr id="11" name="hyp-txt3">
            <a:extLst xmlns:a="http://schemas.openxmlformats.org/drawingml/2006/main">
              <a:ext uri="{FF2B5EF4-FFF2-40B4-BE49-F238E27FC236}">
                <a16:creationId xmlns:a16="http://schemas.microsoft.com/office/drawing/2014/main" id="{2188EDC0-F6DC-44BD-85B1-A6F48857C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00250"/>
            <a:ext cx="28575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[ACCEPT / MODIFY / REJECT]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Revised hypothesis: [____]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Forecast implication: [____]</a:t>
            </a:r>
          </a:p>
        </p:txBody>
      </p:sp>
      <p:sp>
        <p:nvSpPr>
          <p:cNvPr id="12" name="capaj">
            <a:extLst xmlns:a="http://schemas.openxmlformats.org/drawingml/2006/main">
              <a:ext uri="{FF2B5EF4-FFF2-40B4-BE49-F238E27FC236}">
                <a16:creationId xmlns:a16="http://schemas.microsoft.com/office/drawing/2014/main" id="{7C19B6B7-CB5B-4C10-871A-ECE561734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0"/>
            <a:ext cx="111252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C-A-P-A-J: Context  •  Assumptions  •  Prompt  •  Assess independently  •  Judge</a:t>
            </a:r>
          </a:p>
        </p:txBody>
      </p:sp>
      <p:sp>
        <p:nvSpPr>
          <p:cNvPr id="13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EDBDCF74-232F-4442-8E13-2CB48F4E4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05550"/>
            <a:ext cx="11125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footer-source-4">
            <a:extLst xmlns:a="http://schemas.openxmlformats.org/drawingml/2006/main">
              <a:ext uri="{FF2B5EF4-FFF2-40B4-BE49-F238E27FC236}">
                <a16:creationId xmlns:a16="http://schemas.microsoft.com/office/drawing/2014/main" id="{82A05D45-06B2-4ADA-BB17-BBE35B486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81750"/>
            <a:ext cx="971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3617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36174"/>
                </a:solidFill>
                <a:latin typeface="Aptos"/>
                <a:ea typeface="Aptos"/>
                <a:cs typeface="Aptos"/>
              </a:rPr>
              <a:t>Verification: [SEC / FactSet / Excel / course evidence IDs]  •  AI tool is disclosed, not cited as a source</a:t>
            </a:r>
          </a:p>
        </p:txBody>
      </p:sp>
      <p:sp>
        <p:nvSpPr>
          <p:cNvPr id="15" name="footer-page-4">
            <a:extLst xmlns:a="http://schemas.openxmlformats.org/drawingml/2006/main">
              <a:ext uri="{FF2B5EF4-FFF2-40B4-BE49-F238E27FC236}">
                <a16:creationId xmlns:a16="http://schemas.microsoft.com/office/drawing/2014/main" id="{5CD32EDD-66E5-43F9-9866-05B2EA8AD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817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36174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36174"/>
                </a:solidFill>
                <a:latin typeface="Aptos"/>
                <a:ea typeface="Aptos"/>
                <a:cs typeface="Aptos"/>
              </a:rPr>
              <a:t>CORE 04/10  •  04</a:t>
            </a:r>
          </a:p>
        </p:txBody>
      </p:sp>
    </p:spTree>
    <p:extLst>
      <p:ext uri="{BB962C8B-B14F-4D97-AF65-F5344CB8AC3E}">
        <p14:creationId xmlns:p14="http://schemas.microsoft.com/office/powerpoint/2010/main" val="170693492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kicker-5">
            <a:extLst xmlns:a="http://schemas.openxmlformats.org/drawingml/2006/main">
              <a:ext uri="{FF2B5EF4-FFF2-40B4-BE49-F238E27FC236}">
                <a16:creationId xmlns:a16="http://schemas.microsoft.com/office/drawing/2014/main" id="{ED4072EC-40B6-4F15-9E85-EFA4C79CC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CORE EVIDENCE  •  FORECAST SCENARIOS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AF6C422B-0B94-46E8-9E14-71C6DA046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11252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Three forecast paths make the hypothesis testable</a:t>
            </a:r>
          </a:p>
        </p:txBody>
      </p:sp>
      <p:sp>
        <p:nvSpPr>
          <p:cNvPr id="3" name="placeholder-56-122">
            <a:extLst xmlns:a="http://schemas.openxmlformats.org/drawingml/2006/main">
              <a:ext uri="{FF2B5EF4-FFF2-40B4-BE49-F238E27FC236}">
                <a16:creationId xmlns:a16="http://schemas.microsoft.com/office/drawing/2014/main" id="{1F3AFECC-2096-4171-9E70-4D4C7B832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62050"/>
            <a:ext cx="685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ILLUSTRATIVE PLACEHOLDER — REPLACE WITH VERIFIED COMPANY DATA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533400" y="1428750"/>
          <a:ext xmlns:a="http://schemas.openxmlformats.org/drawingml/2006/main" cx="7239000" cy="400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b6ee8acf7fe405a"/>
          </a:graphicData>
        </a:graphic>
      </p:graphicFrame>
      <p:sp>
        <p:nvSpPr>
          <p:cNvPr id="5" name="scenario-label">
            <a:extLst xmlns:a="http://schemas.openxmlformats.org/drawingml/2006/main">
              <a:ext uri="{FF2B5EF4-FFF2-40B4-BE49-F238E27FC236}">
                <a16:creationId xmlns:a16="http://schemas.microsoft.com/office/drawing/2014/main" id="{14E93ACF-44F8-4D38-B3BB-6D5570808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42875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SCENARIO LOGIC</a:t>
            </a:r>
          </a:p>
        </p:txBody>
      </p:sp>
      <p:sp>
        <p:nvSpPr>
          <p:cNvPr id="6" name="scenario-text">
            <a:extLst xmlns:a="http://schemas.openxmlformats.org/drawingml/2006/main">
              <a:ext uri="{FF2B5EF4-FFF2-40B4-BE49-F238E27FC236}">
                <a16:creationId xmlns:a16="http://schemas.microsoft.com/office/drawing/2014/main" id="{F96FE078-6A84-448A-90F6-45C69FEB1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809750"/>
            <a:ext cx="32385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lIns="171450" tIns="171450" rIns="171450" bIns="171450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UPSIDE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[Driver + evidence + trigger]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BASE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[Most supportable path]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DOWNSIDE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[Failure mode + trigger]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Common constraint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[Capacity / demand / capital / regulation]</a:t>
            </a:r>
          </a:p>
        </p:txBody>
      </p:sp>
      <p:sp>
        <p:nvSpPr>
          <p:cNvPr id="7" name="scenario-so-what">
            <a:extLst xmlns:a="http://schemas.openxmlformats.org/drawingml/2006/main">
              <a:ext uri="{FF2B5EF4-FFF2-40B4-BE49-F238E27FC236}">
                <a16:creationId xmlns:a16="http://schemas.microsoft.com/office/drawing/2014/main" id="{664A4875-B14C-402E-97F7-CC9033825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143500"/>
            <a:ext cx="3238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The recommendation remains valid when: [decision rule].</a:t>
            </a:r>
          </a:p>
        </p:txBody>
      </p:sp>
      <p:sp>
        <p:nvSpPr>
          <p:cNvPr id="8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63E1A2E9-F9C4-49DB-AFB6-3307B7063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05550"/>
            <a:ext cx="11125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footer-source-5">
            <a:extLst xmlns:a="http://schemas.openxmlformats.org/drawingml/2006/main">
              <a:ext uri="{FF2B5EF4-FFF2-40B4-BE49-F238E27FC236}">
                <a16:creationId xmlns:a16="http://schemas.microsoft.com/office/drawing/2014/main" id="{9F3728EB-D6F6-4C1D-9BCD-4AFC156AE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81750"/>
            <a:ext cx="971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3617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36174"/>
                </a:solidFill>
                <a:latin typeface="Aptos"/>
                <a:ea typeface="Aptos"/>
                <a:cs typeface="Aptos"/>
              </a:rPr>
              <a:t>Source: BUS311 valuation model v[date]  •  Assumptions reconciled to [S# / F#]  •  Units [____]</a:t>
            </a:r>
          </a:p>
        </p:txBody>
      </p:sp>
      <p:sp>
        <p:nvSpPr>
          <p:cNvPr id="10" name="footer-page-5">
            <a:extLst xmlns:a="http://schemas.openxmlformats.org/drawingml/2006/main">
              <a:ext uri="{FF2B5EF4-FFF2-40B4-BE49-F238E27FC236}">
                <a16:creationId xmlns:a16="http://schemas.microsoft.com/office/drawing/2014/main" id="{22658762-CBBE-49B3-9B30-2E0A50356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817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36174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36174"/>
                </a:solidFill>
                <a:latin typeface="Aptos"/>
                <a:ea typeface="Aptos"/>
                <a:cs typeface="Aptos"/>
              </a:rPr>
              <a:t>CORE 05/10  •  05</a:t>
            </a:r>
          </a:p>
        </p:txBody>
      </p:sp>
    </p:spTree>
    <p:extLst>
      <p:ext uri="{BB962C8B-B14F-4D97-AF65-F5344CB8AC3E}">
        <p14:creationId xmlns:p14="http://schemas.microsoft.com/office/powerpoint/2010/main" val="149407362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kicker-6">
            <a:extLst xmlns:a="http://schemas.openxmlformats.org/drawingml/2006/main">
              <a:ext uri="{FF2B5EF4-FFF2-40B4-BE49-F238E27FC236}">
                <a16:creationId xmlns:a16="http://schemas.microsoft.com/office/drawing/2014/main" id="{D1943805-C4BA-4A75-8FB1-A87D31205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CORE EVIDENCE  •  VALUATION</a:t>
            </a:r>
          </a:p>
        </p:txBody>
      </p:sp>
      <p:sp>
        <p:nvSpPr>
          <p:cNvPr id="2" name="title-6">
            <a:extLst xmlns:a="http://schemas.openxmlformats.org/drawingml/2006/main">
              <a:ext uri="{FF2B5EF4-FFF2-40B4-BE49-F238E27FC236}">
                <a16:creationId xmlns:a16="http://schemas.microsoft.com/office/drawing/2014/main" id="{AF2C8136-435F-4EA0-9AB1-2F29841F3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11252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Valuation defines the decision range</a:t>
            </a:r>
          </a:p>
        </p:txBody>
      </p:sp>
      <p:sp>
        <p:nvSpPr>
          <p:cNvPr id="3" name="placeholder-56-122">
            <a:extLst xmlns:a="http://schemas.openxmlformats.org/drawingml/2006/main">
              <a:ext uri="{FF2B5EF4-FFF2-40B4-BE49-F238E27FC236}">
                <a16:creationId xmlns:a16="http://schemas.microsoft.com/office/drawing/2014/main" id="{3060D394-738C-4AF7-BF5B-3CE776ED6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62050"/>
            <a:ext cx="685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ILLUSTRATIVE PLACEHOLDER — REPLACE WITH VERIFIED COMPANY DATA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533400" y="1428750"/>
          <a:ext xmlns:a="http://schemas.openxmlformats.org/drawingml/2006/main" cx="695325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5e1552fb2dd4ca4"/>
          </a:graphicData>
        </a:graphic>
      </p:graphicFrame>
      <p:sp>
        <p:nvSpPr>
          <p:cNvPr id="5" name="val-label">
            <a:extLst xmlns:a="http://schemas.openxmlformats.org/drawingml/2006/main">
              <a:ext uri="{FF2B5EF4-FFF2-40B4-BE49-F238E27FC236}">
                <a16:creationId xmlns:a16="http://schemas.microsoft.com/office/drawing/2014/main" id="{E0FFA2C3-B070-4FC6-BFA6-DB46AEFEC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4287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MODEL OUTPUTS TO DEFEND</a:t>
            </a:r>
          </a:p>
        </p:txBody>
      </p:sp>
      <p:graphicFrame>
        <p:nvGraphicFramePr>
          <p:cNvPr id="19" name=""/>
          <p:cNvGraphicFramePr/>
          <p:nvPr/>
        </p:nvGraphicFramePr>
        <p:xfrm>
          <a:off xmlns:a="http://schemas.openxmlformats.org/drawingml/2006/main" x="7953375" y="1809750"/>
          <a:ext xmlns:a="http://schemas.openxmlformats.org/drawingml/2006/main" cx="3429000" cy="21907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1809750"/>
                <a:gridCol w="1619250"/>
              </a:tblGrid>
              <a:tr h="43815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Output</a:t>
                      </a:r>
                    </a:p>
                  </a:txBody>
                  <a:tcPr marL="91440" marR="91440" marT="45720" marB="45720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Verified</a:t>
                      </a:r>
                    </a:p>
                  </a:txBody>
                  <a:tcPr marL="91440" marR="91440" marT="45720" marB="45720">
                    <a:solidFill>
                      <a:srgbClr val="0B1220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B1220"/>
                          </a:solidFill>
                        </a:rPr>
                        <a:t>Method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B1220"/>
                          </a:solidFill>
                        </a:rPr>
                        <a:t>[DCF / NPV / other]</a:t>
                      </a:r>
                    </a:p>
                  </a:txBody>
                  <a:tcPr marL="91440" marR="91440" marT="45720" marB="45720"/>
                </a:tc>
              </a:tr>
              <a:tr h="43815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B1220"/>
                          </a:solidFill>
                        </a:rPr>
                        <a:t>WACC / hurdle + terminal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B1220"/>
                          </a:solidFill>
                        </a:rPr>
                        <a:t>EV → equity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/>
                </a:tc>
              </a:tr>
              <a:tr h="43815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B1220"/>
                          </a:solidFill>
                        </a:rPr>
                        <a:t>Model status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0B1220"/>
                          </a:solidFill>
                        </a:rPr>
                        <a:t>[PASS / flag]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7" name="val-so-what">
            <a:extLst xmlns:a="http://schemas.openxmlformats.org/drawingml/2006/main">
              <a:ext uri="{FF2B5EF4-FFF2-40B4-BE49-F238E27FC236}">
                <a16:creationId xmlns:a16="http://schemas.microsoft.com/office/drawing/2014/main" id="{2631CB4D-59A8-4C61-9C25-3990E9E3C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286250"/>
            <a:ext cx="3429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lIns="133350" tIns="133350" rIns="133350" bIns="1333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Decision implication</a:t>
            </a:r>
          </a:p>
          <a:p xmlns:a="http://schemas.openxmlformats.org/drawingml/2006/main">
            <a:pPr algn="l">
              <a:buNone/>
              <a:defRPr sz="142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[What the range changes about the action, scale, timing, or trigger.]</a:t>
            </a:r>
          </a:p>
        </p:txBody>
      </p:sp>
      <p:sp>
        <p:nvSpPr>
          <p:cNvPr id="8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ED4E3964-FFC2-42B2-9132-C9DD9E500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05550"/>
            <a:ext cx="11125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footer-source-6">
            <a:extLst xmlns:a="http://schemas.openxmlformats.org/drawingml/2006/main">
              <a:ext uri="{FF2B5EF4-FFF2-40B4-BE49-F238E27FC236}">
                <a16:creationId xmlns:a16="http://schemas.microsoft.com/office/drawing/2014/main" id="{FEE8F6AE-2668-4E67-ADE7-DB966C27B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81750"/>
            <a:ext cx="971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3617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36174"/>
                </a:solidFill>
                <a:latin typeface="Aptos"/>
                <a:ea typeface="Aptos"/>
                <a:cs typeface="Aptos"/>
              </a:rPr>
              <a:t>Source: BUS311 valuation model v[date]  •  WACC / terminal / peer definitions [____]  •  Reconciled to [S# / F#]</a:t>
            </a:r>
          </a:p>
        </p:txBody>
      </p:sp>
      <p:sp>
        <p:nvSpPr>
          <p:cNvPr id="10" name="footer-page-6">
            <a:extLst xmlns:a="http://schemas.openxmlformats.org/drawingml/2006/main">
              <a:ext uri="{FF2B5EF4-FFF2-40B4-BE49-F238E27FC236}">
                <a16:creationId xmlns:a16="http://schemas.microsoft.com/office/drawing/2014/main" id="{29D49017-023B-4611-A622-114F0A574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817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36174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36174"/>
                </a:solidFill>
                <a:latin typeface="Aptos"/>
                <a:ea typeface="Aptos"/>
                <a:cs typeface="Aptos"/>
              </a:rPr>
              <a:t>CORE 06/10  •  06</a:t>
            </a:r>
          </a:p>
        </p:txBody>
      </p:sp>
    </p:spTree>
    <p:extLst>
      <p:ext uri="{BB962C8B-B14F-4D97-AF65-F5344CB8AC3E}">
        <p14:creationId xmlns:p14="http://schemas.microsoft.com/office/powerpoint/2010/main" val="211650266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kicker-7">
            <a:extLst xmlns:a="http://schemas.openxmlformats.org/drawingml/2006/main">
              <a:ext uri="{FF2B5EF4-FFF2-40B4-BE49-F238E27FC236}">
                <a16:creationId xmlns:a16="http://schemas.microsoft.com/office/drawing/2014/main" id="{29732F49-9DB3-4DFB-8096-9C0049946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CORE DECISION  •  RECOMMENDED ACTION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B5488CC2-A8F1-47B8-B035-348157F9A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11252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CFO action turns evidence into commitment</a:t>
            </a:r>
          </a:p>
        </p:txBody>
      </p:sp>
      <p:sp>
        <p:nvSpPr>
          <p:cNvPr id="3" name="action-main">
            <a:extLst xmlns:a="http://schemas.openxmlformats.org/drawingml/2006/main">
              <a:ext uri="{FF2B5EF4-FFF2-40B4-BE49-F238E27FC236}">
                <a16:creationId xmlns:a16="http://schemas.microsoft.com/office/drawing/2014/main" id="{CF7E1B68-D418-4A0B-A672-4CFE18C1C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33500"/>
            <a:ext cx="400050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action-label">
            <a:extLst xmlns:a="http://schemas.openxmlformats.org/drawingml/2006/main">
              <a:ext uri="{FF2B5EF4-FFF2-40B4-BE49-F238E27FC236}">
                <a16:creationId xmlns:a16="http://schemas.microsoft.com/office/drawing/2014/main" id="{26A90A5A-C9B4-4DBA-A835-90852D0D1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581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6DCBF4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6DCBF4"/>
                </a:solidFill>
                <a:latin typeface="Aptos"/>
                <a:ea typeface="Aptos"/>
                <a:cs typeface="Aptos"/>
              </a:rPr>
              <a:t>RECOMMEND</a:t>
            </a:r>
          </a:p>
        </p:txBody>
      </p:sp>
      <p:sp>
        <p:nvSpPr>
          <p:cNvPr id="5" name="action-text">
            <a:extLst xmlns:a="http://schemas.openxmlformats.org/drawingml/2006/main">
              <a:ext uri="{FF2B5EF4-FFF2-40B4-BE49-F238E27FC236}">
                <a16:creationId xmlns:a16="http://schemas.microsoft.com/office/drawing/2014/main" id="{8403C677-318C-4FF3-9B86-F46EDB453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38350"/>
            <a:ext cx="32385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83352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[Approve / reject / modify]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2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[action]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2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[scale]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24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4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[timing]</a:t>
            </a:r>
          </a:p>
        </p:txBody>
      </p:sp>
      <p:sp>
        <p:nvSpPr>
          <p:cNvPr id="6" name="action-rule">
            <a:extLst xmlns:a="http://schemas.openxmlformats.org/drawingml/2006/main">
              <a:ext uri="{FF2B5EF4-FFF2-40B4-BE49-F238E27FC236}">
                <a16:creationId xmlns:a16="http://schemas.microsoft.com/office/drawing/2014/main" id="{65C19F32-1959-4BDA-A50E-DC6329525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10100"/>
            <a:ext cx="323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Decision rule</a:t>
            </a:r>
          </a:p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[Proceed only if / pause if / revisit when]</a:t>
            </a:r>
          </a:p>
        </p:txBody>
      </p:sp>
      <p:sp>
        <p:nvSpPr>
          <p:cNvPr id="7" name="action-rail-label">
            <a:extLst xmlns:a="http://schemas.openxmlformats.org/drawingml/2006/main">
              <a:ext uri="{FF2B5EF4-FFF2-40B4-BE49-F238E27FC236}">
                <a16:creationId xmlns:a16="http://schemas.microsoft.com/office/drawing/2014/main" id="{BDABEC93-31CC-41A3-A29E-8FBEDA6A8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4287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SUPPORTING ACTIONS</a:t>
            </a:r>
          </a:p>
        </p:txBody>
      </p:sp>
      <p:sp>
        <p:nvSpPr>
          <p:cNvPr id="8" name="action-num-0">
            <a:extLst xmlns:a="http://schemas.openxmlformats.org/drawingml/2006/main">
              <a:ext uri="{FF2B5EF4-FFF2-40B4-BE49-F238E27FC236}">
                <a16:creationId xmlns:a16="http://schemas.microsoft.com/office/drawing/2014/main" id="{16E76776-4FEA-463A-9ABC-6F6AC49C2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866900"/>
            <a:ext cx="514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4E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9" name="action-copy-0">
            <a:extLst xmlns:a="http://schemas.openxmlformats.org/drawingml/2006/main">
              <a:ext uri="{FF2B5EF4-FFF2-40B4-BE49-F238E27FC236}">
                <a16:creationId xmlns:a16="http://schemas.microsoft.com/office/drawing/2014/main" id="{B2A074B4-B161-4CE2-B8E6-CEFA1EFCD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1866900"/>
            <a:ext cx="5715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lIns="133350" tIns="114300" rIns="133350" bIns="952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[Supporting action]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[Owner]  •  [Value / KPI]</a:t>
            </a:r>
          </a:p>
        </p:txBody>
      </p:sp>
      <p:sp>
        <p:nvSpPr>
          <p:cNvPr id="10" name="action-num-1">
            <a:extLst xmlns:a="http://schemas.openxmlformats.org/drawingml/2006/main">
              <a:ext uri="{FF2B5EF4-FFF2-40B4-BE49-F238E27FC236}">
                <a16:creationId xmlns:a16="http://schemas.microsoft.com/office/drawing/2014/main" id="{18F717C5-0615-4E36-B739-A5775C821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067050"/>
            <a:ext cx="514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4E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1" name="action-copy-1">
            <a:extLst xmlns:a="http://schemas.openxmlformats.org/drawingml/2006/main">
              <a:ext uri="{FF2B5EF4-FFF2-40B4-BE49-F238E27FC236}">
                <a16:creationId xmlns:a16="http://schemas.microsoft.com/office/drawing/2014/main" id="{62DCBD2F-10BA-471C-9F09-B057D73E7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067050"/>
            <a:ext cx="5715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lIns="133350" tIns="114300" rIns="133350" bIns="952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[Supporting action]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[Owner]  •  [Value / KPI]</a:t>
            </a:r>
          </a:p>
        </p:txBody>
      </p:sp>
      <p:sp>
        <p:nvSpPr>
          <p:cNvPr id="12" name="action-num-2">
            <a:extLst xmlns:a="http://schemas.openxmlformats.org/drawingml/2006/main">
              <a:ext uri="{FF2B5EF4-FFF2-40B4-BE49-F238E27FC236}">
                <a16:creationId xmlns:a16="http://schemas.microsoft.com/office/drawing/2014/main" id="{F41F9237-FD5D-4E29-9AA7-9DB68A845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267200"/>
            <a:ext cx="5143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4E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3" name="action-copy-2">
            <a:extLst xmlns:a="http://schemas.openxmlformats.org/drawingml/2006/main">
              <a:ext uri="{FF2B5EF4-FFF2-40B4-BE49-F238E27FC236}">
                <a16:creationId xmlns:a16="http://schemas.microsoft.com/office/drawing/2014/main" id="{C15EDACA-5226-4A2F-B6EF-170C7B37E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4267200"/>
            <a:ext cx="571500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lIns="133350" tIns="114300" rIns="133350" bIns="952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[Supporting action]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[Owner]  •  [Value / KPI]</a:t>
            </a:r>
          </a:p>
        </p:txBody>
      </p:sp>
      <p:sp>
        <p:nvSpPr>
          <p:cNvPr id="14" name="footer-rule-7">
            <a:extLst xmlns:a="http://schemas.openxmlformats.org/drawingml/2006/main">
              <a:ext uri="{FF2B5EF4-FFF2-40B4-BE49-F238E27FC236}">
                <a16:creationId xmlns:a16="http://schemas.microsoft.com/office/drawing/2014/main" id="{982720FB-2AE6-452C-BE2B-80CD9AC8F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05550"/>
            <a:ext cx="11125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footer-source-7">
            <a:extLst xmlns:a="http://schemas.openxmlformats.org/drawingml/2006/main">
              <a:ext uri="{FF2B5EF4-FFF2-40B4-BE49-F238E27FC236}">
                <a16:creationId xmlns:a16="http://schemas.microsoft.com/office/drawing/2014/main" id="{7B2D1518-644C-4C7B-B114-34F88EA65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81750"/>
            <a:ext cx="971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3617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36174"/>
                </a:solidFill>
                <a:latin typeface="Aptos"/>
                <a:ea typeface="Aptos"/>
                <a:cs typeface="Aptos"/>
              </a:rPr>
              <a:t>Source: [Model scenario / SEC constraint / FactSet benchmark IDs]  •  Definitions and assumptions in appendix</a:t>
            </a:r>
          </a:p>
        </p:txBody>
      </p:sp>
      <p:sp>
        <p:nvSpPr>
          <p:cNvPr id="16" name="footer-page-7">
            <a:extLst xmlns:a="http://schemas.openxmlformats.org/drawingml/2006/main">
              <a:ext uri="{FF2B5EF4-FFF2-40B4-BE49-F238E27FC236}">
                <a16:creationId xmlns:a16="http://schemas.microsoft.com/office/drawing/2014/main" id="{5D4C7090-3205-4F21-B0E0-2F49C9F60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817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36174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36174"/>
                </a:solidFill>
                <a:latin typeface="Aptos"/>
                <a:ea typeface="Aptos"/>
                <a:cs typeface="Aptos"/>
              </a:rPr>
              <a:t>CORE 07/10  •  07</a:t>
            </a:r>
          </a:p>
        </p:txBody>
      </p:sp>
    </p:spTree>
    <p:extLst>
      <p:ext uri="{BB962C8B-B14F-4D97-AF65-F5344CB8AC3E}">
        <p14:creationId xmlns:p14="http://schemas.microsoft.com/office/powerpoint/2010/main" val="42277337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kicker-8">
            <a:extLst xmlns:a="http://schemas.openxmlformats.org/drawingml/2006/main">
              <a:ext uri="{FF2B5EF4-FFF2-40B4-BE49-F238E27FC236}">
                <a16:creationId xmlns:a16="http://schemas.microsoft.com/office/drawing/2014/main" id="{CEE3D9E2-8849-4626-B09A-B27B993F6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CORE DECISION  •  IMPLEMENTATION</a:t>
            </a:r>
          </a:p>
        </p:txBody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917A07ED-965E-467B-9C4E-1CCBEF74A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11252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Implementation creates accountable milestones</a:t>
            </a:r>
          </a:p>
        </p:txBody>
      </p:sp>
      <p:sp>
        <p:nvSpPr>
          <p:cNvPr id="3" name="timeline-line">
            <a:extLst xmlns:a="http://schemas.openxmlformats.org/drawingml/2006/main">
              <a:ext uri="{FF2B5EF4-FFF2-40B4-BE49-F238E27FC236}">
                <a16:creationId xmlns:a16="http://schemas.microsoft.com/office/drawing/2014/main" id="{C4512A65-0565-4512-A672-12F6C01C5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781300"/>
            <a:ext cx="9858375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timeline-dot-0">
            <a:extLst xmlns:a="http://schemas.openxmlformats.org/drawingml/2006/main">
              <a:ext uri="{FF2B5EF4-FFF2-40B4-BE49-F238E27FC236}">
                <a16:creationId xmlns:a16="http://schemas.microsoft.com/office/drawing/2014/main" id="{C6A5425D-6E18-4B9F-B1C4-F21E25B86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26479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74E6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5" name="timeline-lab-0">
            <a:extLst xmlns:a="http://schemas.openxmlformats.org/drawingml/2006/main">
              <a:ext uri="{FF2B5EF4-FFF2-40B4-BE49-F238E27FC236}">
                <a16:creationId xmlns:a16="http://schemas.microsoft.com/office/drawing/2014/main" id="{3303157A-173C-4B3B-9D33-E06C6F513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526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NOW</a:t>
            </a:r>
          </a:p>
        </p:txBody>
      </p:sp>
      <p:sp>
        <p:nvSpPr>
          <p:cNvPr id="6" name="timeline-copy-0">
            <a:extLst xmlns:a="http://schemas.openxmlformats.org/drawingml/2006/main">
              <a:ext uri="{FF2B5EF4-FFF2-40B4-BE49-F238E27FC236}">
                <a16:creationId xmlns:a16="http://schemas.microsoft.com/office/drawing/2014/main" id="{531BB256-1C64-4AF6-A9A4-5D19747BD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162300"/>
            <a:ext cx="23241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[Board approval / scope]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Owner: [____]</a:t>
            </a:r>
          </a:p>
        </p:txBody>
      </p:sp>
      <p:sp>
        <p:nvSpPr>
          <p:cNvPr id="7" name="timeline-dot-1">
            <a:extLst xmlns:a="http://schemas.openxmlformats.org/drawingml/2006/main">
              <a:ext uri="{FF2B5EF4-FFF2-40B4-BE49-F238E27FC236}">
                <a16:creationId xmlns:a16="http://schemas.microsoft.com/office/drawing/2014/main" id="{492AFE89-C953-4648-939E-0F1F23322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26479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8" name="timeline-lab-1">
            <a:extLst xmlns:a="http://schemas.openxmlformats.org/drawingml/2006/main">
              <a:ext uri="{FF2B5EF4-FFF2-40B4-BE49-F238E27FC236}">
                <a16:creationId xmlns:a16="http://schemas.microsoft.com/office/drawing/2014/main" id="{92910DB9-658B-4B45-99F3-B418BBD54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17526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0–90 DAYS</a:t>
            </a:r>
          </a:p>
        </p:txBody>
      </p:sp>
      <p:sp>
        <p:nvSpPr>
          <p:cNvPr id="9" name="timeline-copy-1">
            <a:extLst xmlns:a="http://schemas.openxmlformats.org/drawingml/2006/main">
              <a:ext uri="{FF2B5EF4-FFF2-40B4-BE49-F238E27FC236}">
                <a16:creationId xmlns:a16="http://schemas.microsoft.com/office/drawing/2014/main" id="{0783FB06-483D-475D-8FDC-30C679B6F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3162300"/>
            <a:ext cx="23241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[First operating or financing milestone]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KPI: [____]</a:t>
            </a:r>
          </a:p>
        </p:txBody>
      </p:sp>
      <p:sp>
        <p:nvSpPr>
          <p:cNvPr id="10" name="timeline-dot-2">
            <a:extLst xmlns:a="http://schemas.openxmlformats.org/drawingml/2006/main">
              <a:ext uri="{FF2B5EF4-FFF2-40B4-BE49-F238E27FC236}">
                <a16:creationId xmlns:a16="http://schemas.microsoft.com/office/drawing/2014/main" id="{1BADE5AA-E42D-4E24-AD27-DC555E50C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6479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11" name="timeline-lab-2">
            <a:extLst xmlns:a="http://schemas.openxmlformats.org/drawingml/2006/main">
              <a:ext uri="{FF2B5EF4-FFF2-40B4-BE49-F238E27FC236}">
                <a16:creationId xmlns:a16="http://schemas.microsoft.com/office/drawing/2014/main" id="{1C1CD886-9F87-40E5-9CA0-52B5C5BFA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526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3–12 MONTHS</a:t>
            </a:r>
          </a:p>
        </p:txBody>
      </p:sp>
      <p:sp>
        <p:nvSpPr>
          <p:cNvPr id="12" name="timeline-copy-2">
            <a:extLst xmlns:a="http://schemas.openxmlformats.org/drawingml/2006/main">
              <a:ext uri="{FF2B5EF4-FFF2-40B4-BE49-F238E27FC236}">
                <a16:creationId xmlns:a16="http://schemas.microsoft.com/office/drawing/2014/main" id="{7D89DAE3-1950-4724-92D5-993182432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162300"/>
            <a:ext cx="23241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[Scale / checkpoint]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Trigger: [____]</a:t>
            </a:r>
          </a:p>
        </p:txBody>
      </p:sp>
      <p:sp>
        <p:nvSpPr>
          <p:cNvPr id="13" name="timeline-dot-3">
            <a:extLst xmlns:a="http://schemas.openxmlformats.org/drawingml/2006/main">
              <a:ext uri="{FF2B5EF4-FFF2-40B4-BE49-F238E27FC236}">
                <a16:creationId xmlns:a16="http://schemas.microsoft.com/office/drawing/2014/main" id="{B4610D71-41BF-4D27-AE3F-BE31DD2EA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2225" y="26479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19050">
            <a:solidFill>
              <a:srgbClr val="FFFFFF"/>
            </a:solidFill>
            <a:prstDash val="solid"/>
          </a:ln>
        </p:spPr>
      </p:sp>
      <p:sp>
        <p:nvSpPr>
          <p:cNvPr id="14" name="timeline-lab-3">
            <a:extLst xmlns:a="http://schemas.openxmlformats.org/drawingml/2006/main">
              <a:ext uri="{FF2B5EF4-FFF2-40B4-BE49-F238E27FC236}">
                <a16:creationId xmlns:a16="http://schemas.microsoft.com/office/drawing/2014/main" id="{D4517A35-4625-463E-AAC5-0D72052C4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17526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REVIEW</a:t>
            </a:r>
          </a:p>
        </p:txBody>
      </p:sp>
      <p:sp>
        <p:nvSpPr>
          <p:cNvPr id="15" name="timeline-copy-3">
            <a:extLst xmlns:a="http://schemas.openxmlformats.org/drawingml/2006/main">
              <a:ext uri="{FF2B5EF4-FFF2-40B4-BE49-F238E27FC236}">
                <a16:creationId xmlns:a16="http://schemas.microsoft.com/office/drawing/2014/main" id="{635F4BE0-01AF-4068-A26D-FB82C0789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3162300"/>
            <a:ext cx="23241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[Continue / modify / stop decision]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Evidence: [____]</a:t>
            </a:r>
          </a:p>
        </p:txBody>
      </p:sp>
      <p:sp>
        <p:nvSpPr>
          <p:cNvPr id="16" name="implementation-bar">
            <a:extLst xmlns:a="http://schemas.openxmlformats.org/drawingml/2006/main">
              <a:ext uri="{FF2B5EF4-FFF2-40B4-BE49-F238E27FC236}">
                <a16:creationId xmlns:a16="http://schemas.microsoft.com/office/drawing/2014/main" id="{0258E207-E06E-42CE-A971-4E999CD97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048250"/>
            <a:ext cx="11125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sp>
        <p:nvSpPr>
          <p:cNvPr id="17" name="implementation-bar-text">
            <a:extLst xmlns:a="http://schemas.openxmlformats.org/drawingml/2006/main">
              <a:ext uri="{FF2B5EF4-FFF2-40B4-BE49-F238E27FC236}">
                <a16:creationId xmlns:a16="http://schemas.microsoft.com/office/drawing/2014/main" id="{CFDB496F-0E20-43E8-82E9-E1481F199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38750"/>
            <a:ext cx="10744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Success measure: [KPI + definition]   •   Early warning: [trigger]   •   Governance cadence: [owner + review timing]</a:t>
            </a:r>
          </a:p>
        </p:txBody>
      </p:sp>
      <p:sp>
        <p:nvSpPr>
          <p:cNvPr id="18" name="footer-rule-8">
            <a:extLst xmlns:a="http://schemas.openxmlformats.org/drawingml/2006/main">
              <a:ext uri="{FF2B5EF4-FFF2-40B4-BE49-F238E27FC236}">
                <a16:creationId xmlns:a16="http://schemas.microsoft.com/office/drawing/2014/main" id="{BECD5F6C-21DE-4B8C-8C93-04BE3168D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05550"/>
            <a:ext cx="11125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footer-source-8">
            <a:extLst xmlns:a="http://schemas.openxmlformats.org/drawingml/2006/main">
              <a:ext uri="{FF2B5EF4-FFF2-40B4-BE49-F238E27FC236}">
                <a16:creationId xmlns:a16="http://schemas.microsoft.com/office/drawing/2014/main" id="{8A6931A3-4A40-4242-B6D9-B3C918402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81750"/>
            <a:ext cx="971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3617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36174"/>
                </a:solidFill>
                <a:latin typeface="Aptos"/>
                <a:ea typeface="Aptos"/>
                <a:cs typeface="Aptos"/>
              </a:rPr>
              <a:t>Source: [Company disclosure / model trigger / course concept]  •  Dates and owners are proposed by the student</a:t>
            </a:r>
          </a:p>
        </p:txBody>
      </p:sp>
      <p:sp>
        <p:nvSpPr>
          <p:cNvPr id="20" name="footer-page-8">
            <a:extLst xmlns:a="http://schemas.openxmlformats.org/drawingml/2006/main">
              <a:ext uri="{FF2B5EF4-FFF2-40B4-BE49-F238E27FC236}">
                <a16:creationId xmlns:a16="http://schemas.microsoft.com/office/drawing/2014/main" id="{B13FE3F0-8577-4711-984F-7DA3E60EE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817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36174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36174"/>
                </a:solidFill>
                <a:latin typeface="Aptos"/>
                <a:ea typeface="Aptos"/>
                <a:cs typeface="Aptos"/>
              </a:rPr>
              <a:t>CORE 08/10  •  08</a:t>
            </a:r>
          </a:p>
        </p:txBody>
      </p:sp>
    </p:spTree>
    <p:extLst>
      <p:ext uri="{BB962C8B-B14F-4D97-AF65-F5344CB8AC3E}">
        <p14:creationId xmlns:p14="http://schemas.microsoft.com/office/powerpoint/2010/main" val="129462408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kicker-9">
            <a:extLst xmlns:a="http://schemas.openxmlformats.org/drawingml/2006/main">
              <a:ext uri="{FF2B5EF4-FFF2-40B4-BE49-F238E27FC236}">
                <a16:creationId xmlns:a16="http://schemas.microsoft.com/office/drawing/2014/main" id="{2A78E33F-B287-4961-A4FC-9EB53E153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CORE DECISION  •  RISKS AND TRIGGERS</a:t>
            </a:r>
          </a:p>
        </p:txBody>
      </p:sp>
      <p:sp>
        <p:nvSpPr>
          <p:cNvPr id="2" name="title-9">
            <a:extLst xmlns:a="http://schemas.openxmlformats.org/drawingml/2006/main">
              <a:ext uri="{FF2B5EF4-FFF2-40B4-BE49-F238E27FC236}">
                <a16:creationId xmlns:a16="http://schemas.microsoft.com/office/drawing/2014/main" id="{E71D2460-F85A-4105-B3D3-EA7F04494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11252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Risk triggers keep the recommendation defensible</a:t>
            </a:r>
          </a:p>
        </p:txBody>
      </p:sp>
      <p:sp>
        <p:nvSpPr>
          <p:cNvPr id="3" name="risk-thesis">
            <a:extLst xmlns:a="http://schemas.openxmlformats.org/drawingml/2006/main">
              <a:ext uri="{FF2B5EF4-FFF2-40B4-BE49-F238E27FC236}">
                <a16:creationId xmlns:a16="http://schemas.microsoft.com/office/drawing/2014/main" id="{5D18C602-42E2-410C-BC6B-E93F31969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"/>
            <a:ext cx="11125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[State the principal tradeoff: what must the Board accept in exchange for the expected value.]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533400" y="1924050"/>
          <a:ext xmlns:a="http://schemas.openxmlformats.org/drawingml/2006/main" cx="11125200" cy="33337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381250"/>
                <a:gridCol w="1571625"/>
                <a:gridCol w="2381250"/>
                <a:gridCol w="2952750"/>
                <a:gridCol w="1838325"/>
              </a:tblGrid>
              <a:tr h="666750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Risk</a:t>
                      </a:r>
                    </a:p>
                  </a:txBody>
                  <a:tcPr marL="91440" marR="91440" marT="45720" marB="45720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Priority</a:t>
                      </a:r>
                    </a:p>
                  </a:txBody>
                  <a:tcPr marL="91440" marR="91440" marT="45720" marB="45720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Observable trigger</a:t>
                      </a:r>
                    </a:p>
                  </a:txBody>
                  <a:tcPr marL="91440" marR="91440" marT="45720" marB="45720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Mitigation / contingency</a:t>
                      </a:r>
                    </a:p>
                  </a:txBody>
                  <a:tcPr marL="91440" marR="91440" marT="45720" marB="45720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Owner</a:t>
                      </a:r>
                    </a:p>
                  </a:txBody>
                  <a:tcPr marL="91440" marR="91440" marT="45720" marB="45720">
                    <a:solidFill>
                      <a:srgbClr val="0B1220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[Revenue / demand]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[High / Med / Low]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[Metric + threshold]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[Action if triggered]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[Function]</a:t>
                      </a:r>
                    </a:p>
                  </a:txBody>
                  <a:tcPr marL="91440" marR="91440" marT="45720" marB="45720"/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[Execution / capacity]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[High / Med / Low]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[Metric + threshold]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[Action if triggered]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[Function]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[Finance / valuation]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[High / Med / Low]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[Metric + threshold]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[Action if triggered]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[Function]</a:t>
                      </a:r>
                    </a:p>
                  </a:txBody>
                  <a:tcPr marL="91440" marR="91440" marT="45720" marB="45720"/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[Regulatory / concentration]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[High / Med / Low]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[Metric + threshold]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[Action if triggered]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[Function]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5" name="risk-close">
            <a:extLst xmlns:a="http://schemas.openxmlformats.org/drawingml/2006/main">
              <a:ext uri="{FF2B5EF4-FFF2-40B4-BE49-F238E27FC236}">
                <a16:creationId xmlns:a16="http://schemas.microsoft.com/office/drawing/2014/main" id="{C256663E-F11B-401A-A18D-777AD7061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0"/>
            <a:ext cx="111252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Board guardrail: [The recommendation changes if ______].</a:t>
            </a:r>
          </a:p>
        </p:txBody>
      </p:sp>
      <p:sp>
        <p:nvSpPr>
          <p:cNvPr id="6" name="footer-rule-9">
            <a:extLst xmlns:a="http://schemas.openxmlformats.org/drawingml/2006/main">
              <a:ext uri="{FF2B5EF4-FFF2-40B4-BE49-F238E27FC236}">
                <a16:creationId xmlns:a16="http://schemas.microsoft.com/office/drawing/2014/main" id="{E9F13A34-35AE-436C-AB58-BFDDDE717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05550"/>
            <a:ext cx="11125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footer-source-9">
            <a:extLst xmlns:a="http://schemas.openxmlformats.org/drawingml/2006/main">
              <a:ext uri="{FF2B5EF4-FFF2-40B4-BE49-F238E27FC236}">
                <a16:creationId xmlns:a16="http://schemas.microsoft.com/office/drawing/2014/main" id="{3C0F91C6-5DFE-451E-88AB-5F3AC77FD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81750"/>
            <a:ext cx="971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3617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36174"/>
                </a:solidFill>
                <a:latin typeface="Aptos"/>
                <a:ea typeface="Aptos"/>
                <a:cs typeface="Aptos"/>
              </a:rPr>
              <a:t>Source: [Risk factors / model sensitivity / peer or industry evidence IDs]  •  Definitions [____]</a:t>
            </a:r>
          </a:p>
        </p:txBody>
      </p:sp>
      <p:sp>
        <p:nvSpPr>
          <p:cNvPr id="8" name="footer-page-9">
            <a:extLst xmlns:a="http://schemas.openxmlformats.org/drawingml/2006/main">
              <a:ext uri="{FF2B5EF4-FFF2-40B4-BE49-F238E27FC236}">
                <a16:creationId xmlns:a16="http://schemas.microsoft.com/office/drawing/2014/main" id="{BFB6691F-9C0E-455C-BF13-739F3D871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817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36174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36174"/>
                </a:solidFill>
                <a:latin typeface="Aptos"/>
                <a:ea typeface="Aptos"/>
                <a:cs typeface="Aptos"/>
              </a:rPr>
              <a:t>CORE 09/10  •  09</a:t>
            </a:r>
          </a:p>
        </p:txBody>
      </p:sp>
    </p:spTree>
    <p:extLst>
      <p:ext uri="{BB962C8B-B14F-4D97-AF65-F5344CB8AC3E}">
        <p14:creationId xmlns:p14="http://schemas.microsoft.com/office/powerpoint/2010/main" val="122074936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close-kicker">
            <a:extLst xmlns:a="http://schemas.openxmlformats.org/drawingml/2006/main">
              <a:ext uri="{FF2B5EF4-FFF2-40B4-BE49-F238E27FC236}">
                <a16:creationId xmlns:a16="http://schemas.microsoft.com/office/drawing/2014/main" id="{0D5640D5-6941-46B2-A357-F1EB60FA8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100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CORE DECISION  •  BOARD RESOLUTION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4A50146C-7CB5-4E72-B76B-69F868F28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9620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37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Approve [action] under [guardrail]</a:t>
            </a:r>
          </a:p>
        </p:txBody>
      </p:sp>
      <p:sp>
        <p:nvSpPr>
          <p:cNvPr id="3" name="close-thesis">
            <a:extLst xmlns:a="http://schemas.openxmlformats.org/drawingml/2006/main">
              <a:ext uri="{FF2B5EF4-FFF2-40B4-BE49-F238E27FC236}">
                <a16:creationId xmlns:a16="http://schemas.microsoft.com/office/drawing/2014/main" id="{39A7404E-2045-4AD3-A21E-2B895512B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76450"/>
            <a:ext cx="962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[One operating reason]  •  [One value reason]</a:t>
            </a:r>
          </a:p>
        </p:txBody>
      </p:sp>
      <p:sp>
        <p:nvSpPr>
          <p:cNvPr id="4" name="close-accent">
            <a:extLst xmlns:a="http://schemas.openxmlformats.org/drawingml/2006/main">
              <a:ext uri="{FF2B5EF4-FFF2-40B4-BE49-F238E27FC236}">
                <a16:creationId xmlns:a16="http://schemas.microsoft.com/office/drawing/2014/main" id="{DA6E7C06-98DC-4445-B291-68FA7FBF6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009650"/>
            <a:ext cx="11811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4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close-mark">
            <a:extLst xmlns:a="http://schemas.openxmlformats.org/drawingml/2006/main">
              <a:ext uri="{FF2B5EF4-FFF2-40B4-BE49-F238E27FC236}">
                <a16:creationId xmlns:a16="http://schemas.microsoft.com/office/drawing/2014/main" id="{900AC12D-7E05-4418-A988-7D1FCA03B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1123950"/>
            <a:ext cx="11811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4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4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✓</a:t>
            </a:r>
          </a:p>
        </p:txBody>
      </p:sp>
      <p:graphicFrame>
        <p:nvGraphicFramePr>
          <p:cNvPr id="18" name=""/>
          <p:cNvGraphicFramePr/>
          <p:nvPr/>
        </p:nvGraphicFramePr>
        <p:xfrm>
          <a:off xmlns:a="http://schemas.openxmlformats.org/drawingml/2006/main" x="533400" y="2952750"/>
          <a:ext xmlns:a="http://schemas.openxmlformats.org/drawingml/2006/main" cx="8572500" cy="219075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857500"/>
                <a:gridCol w="5715000"/>
              </a:tblGrid>
              <a:tr h="547688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Board question</a:t>
                      </a:r>
                    </a:p>
                  </a:txBody>
                  <a:tcPr marL="91440" marR="91440" marT="45720" marB="45720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Answer</a:t>
                      </a:r>
                    </a:p>
                  </a:txBody>
                  <a:tcPr marL="91440" marR="91440" marT="45720" marB="45720">
                    <a:solidFill>
                      <a:srgbClr val="0B1220"/>
                    </a:solidFill>
                  </a:tcPr>
                </a:tc>
              </a:tr>
              <a:tr h="547688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What should we do?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[Recommendation]</a:t>
                      </a:r>
                    </a:p>
                  </a:txBody>
                  <a:tcPr marL="91440" marR="91440" marT="45720" marB="45720"/>
                </a:tc>
              </a:tr>
              <a:tr h="547688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What would change it?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[Trigger / guardrail]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</a:tr>
              <a:tr h="547688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What happens next?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[First milestone + owner]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7" name="qa-ready">
            <a:extLst xmlns:a="http://schemas.openxmlformats.org/drawingml/2006/main">
              <a:ext uri="{FF2B5EF4-FFF2-40B4-BE49-F238E27FC236}">
                <a16:creationId xmlns:a16="http://schemas.microsoft.com/office/drawing/2014/main" id="{22CD7674-8811-4E14-843D-E23C540C9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143250"/>
            <a:ext cx="21907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QUESTION READY</a:t>
            </a:r>
          </a:p>
          <a:p xmlns:a="http://schemas.openxmlformats.org/drawingml/2006/main">
            <a:pPr algn="ctr">
              <a:buNone/>
              <a:defRPr sz="18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Revenue  •  Model  •  Sensitivity  •  Sources</a:t>
            </a:r>
          </a:p>
        </p:txBody>
      </p:sp>
      <p:sp>
        <p:nvSpPr>
          <p:cNvPr id="8" name="footer-rule-10">
            <a:extLst xmlns:a="http://schemas.openxmlformats.org/drawingml/2006/main">
              <a:ext uri="{FF2B5EF4-FFF2-40B4-BE49-F238E27FC236}">
                <a16:creationId xmlns:a16="http://schemas.microsoft.com/office/drawing/2014/main" id="{6A1B94F9-ED43-4534-9898-568B162B6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05550"/>
            <a:ext cx="11125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footer-source-10">
            <a:extLst xmlns:a="http://schemas.openxmlformats.org/drawingml/2006/main">
              <a:ext uri="{FF2B5EF4-FFF2-40B4-BE49-F238E27FC236}">
                <a16:creationId xmlns:a16="http://schemas.microsoft.com/office/drawing/2014/main" id="{D5A56CB8-3B8C-4EB3-A853-BE3172AC2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81750"/>
            <a:ext cx="971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3617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36174"/>
                </a:solidFill>
                <a:latin typeface="Aptos"/>
                <a:ea typeface="Aptos"/>
                <a:cs typeface="Aptos"/>
              </a:rPr>
              <a:t>Source: [Decision evidence IDs]  •  See analytical appendix for model, sensitivity, and source support</a:t>
            </a:r>
          </a:p>
        </p:txBody>
      </p:sp>
      <p:sp>
        <p:nvSpPr>
          <p:cNvPr id="10" name="footer-page-10">
            <a:extLst xmlns:a="http://schemas.openxmlformats.org/drawingml/2006/main">
              <a:ext uri="{FF2B5EF4-FFF2-40B4-BE49-F238E27FC236}">
                <a16:creationId xmlns:a16="http://schemas.microsoft.com/office/drawing/2014/main" id="{DA06B457-7921-46F0-9000-A8653DD2E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817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36174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36174"/>
                </a:solidFill>
                <a:latin typeface="Aptos"/>
                <a:ea typeface="Aptos"/>
                <a:cs typeface="Aptos"/>
              </a:rPr>
              <a:t>CORE 10/10  •  10</a:t>
            </a:r>
          </a:p>
        </p:txBody>
      </p:sp>
    </p:spTree>
    <p:extLst>
      <p:ext uri="{BB962C8B-B14F-4D97-AF65-F5344CB8AC3E}">
        <p14:creationId xmlns:p14="http://schemas.microsoft.com/office/powerpoint/2010/main" val="106753982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kicker-11">
            <a:extLst xmlns:a="http://schemas.openxmlformats.org/drawingml/2006/main">
              <a:ext uri="{FF2B5EF4-FFF2-40B4-BE49-F238E27FC236}">
                <a16:creationId xmlns:a16="http://schemas.microsoft.com/office/drawing/2014/main" id="{648EA1D3-8318-4FEC-A617-85CB25F84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ANALYTICAL APPENDIX  •  </a:t>
            </a:r>
            <a:r>
              <a:rPr sz="97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REVENUE QUESTION SUPPORT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32C90379-90C6-4380-BF2E-10091B999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11252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Revenue detail and evidence register excerpt</a:t>
            </a:r>
          </a:p>
        </p:txBody>
      </p:sp>
      <p:sp>
        <p:nvSpPr>
          <p:cNvPr id="3" name="placeholder-56-122">
            <a:extLst xmlns:a="http://schemas.openxmlformats.org/drawingml/2006/main">
              <a:ext uri="{FF2B5EF4-FFF2-40B4-BE49-F238E27FC236}">
                <a16:creationId xmlns:a16="http://schemas.microsoft.com/office/drawing/2014/main" id="{667D712D-8918-49A1-94B0-D0C2AC8C7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620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EDITABLE TABLE — REPLACE BRACKETS WITH VERIFIED DATA AND SOURCE IDS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533400" y="1504950"/>
          <a:ext xmlns:a="http://schemas.openxmlformats.org/drawingml/2006/main" cx="11125200" cy="33528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1619250"/>
                <a:gridCol w="1381125"/>
                <a:gridCol w="1381125"/>
                <a:gridCol w="1381125"/>
                <a:gridCol w="1381125"/>
                <a:gridCol w="3981450"/>
              </a:tblGrid>
              <a:tr h="558800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Metric / segment</a:t>
                      </a:r>
                    </a:p>
                  </a:txBody>
                  <a:tcPr marL="91440" marR="91440" marT="45720" marB="45720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FY−3</a:t>
                      </a:r>
                    </a:p>
                  </a:txBody>
                  <a:tcPr marL="91440" marR="91440" marT="45720" marB="45720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FY−2</a:t>
                      </a:r>
                    </a:p>
                  </a:txBody>
                  <a:tcPr marL="91440" marR="91440" marT="45720" marB="45720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FY−1</a:t>
                      </a:r>
                    </a:p>
                  </a:txBody>
                  <a:tcPr marL="91440" marR="91440" marT="45720" marB="45720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FY0</a:t>
                      </a:r>
                    </a:p>
                  </a:txBody>
                  <a:tcPr marL="91440" marR="91440" marT="45720" marB="45720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Source / definition / limitation</a:t>
                      </a:r>
                    </a:p>
                  </a:txBody>
                  <a:tcPr marL="91440" marR="91440" marT="45720" marB="45720">
                    <a:solidFill>
                      <a:srgbClr val="0B1220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Total revenue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[S#] [form + date + table]</a:t>
                      </a:r>
                    </a:p>
                  </a:txBody>
                  <a:tcPr marL="91440" marR="91440" marT="45720" marB="45720"/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Segment A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[S# / F#] [definition]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Segment B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[S# / F#] [definition]</a:t>
                      </a:r>
                    </a:p>
                  </a:txBody>
                  <a:tcPr marL="91440" marR="91440" marT="45720" marB="45720"/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Leading indicator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[source + date]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Peer comparison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[F#] [peer group + rationale]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rev-qa">
            <a:extLst xmlns:a="http://schemas.openxmlformats.org/drawingml/2006/main">
              <a:ext uri="{FF2B5EF4-FFF2-40B4-BE49-F238E27FC236}">
                <a16:creationId xmlns:a16="http://schemas.microsoft.com/office/drawing/2014/main" id="{EFE5AD30-02CD-4CB1-81EC-1532B3C0A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62550"/>
            <a:ext cx="111252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Live-question prompts:</a:t>
            </a: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 What is disclosed vs inferred?  •  Which driver is repeatable?  •  Why is the peer group defensible?  •  Which definition limits comparability?</a:t>
            </a:r>
          </a:p>
        </p:txBody>
      </p:sp>
      <p:sp>
        <p:nvSpPr>
          <p:cNvPr id="6" name="footer-rule-11">
            <a:extLst xmlns:a="http://schemas.openxmlformats.org/drawingml/2006/main">
              <a:ext uri="{FF2B5EF4-FFF2-40B4-BE49-F238E27FC236}">
                <a16:creationId xmlns:a16="http://schemas.microsoft.com/office/drawing/2014/main" id="{43FCBA9B-9A2F-4294-9889-CBFFC6590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05550"/>
            <a:ext cx="11125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footer-source-11">
            <a:extLst xmlns:a="http://schemas.openxmlformats.org/drawingml/2006/main">
              <a:ext uri="{FF2B5EF4-FFF2-40B4-BE49-F238E27FC236}">
                <a16:creationId xmlns:a16="http://schemas.microsoft.com/office/drawing/2014/main" id="{BF795B77-D375-40E2-9528-324ED5665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81750"/>
            <a:ext cx="971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3617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36174"/>
                </a:solidFill>
                <a:latin typeface="Aptos"/>
                <a:ea typeface="Aptos"/>
                <a:cs typeface="Aptos"/>
              </a:rPr>
              <a:t>Each row requires source name, date, period, units, definition, location, use, and limitation</a:t>
            </a:r>
          </a:p>
        </p:txBody>
      </p:sp>
      <p:sp>
        <p:nvSpPr>
          <p:cNvPr id="8" name="footer-page-11">
            <a:extLst xmlns:a="http://schemas.openxmlformats.org/drawingml/2006/main">
              <a:ext uri="{FF2B5EF4-FFF2-40B4-BE49-F238E27FC236}">
                <a16:creationId xmlns:a16="http://schemas.microsoft.com/office/drawing/2014/main" id="{49297AA2-479E-4AFA-A07E-5F8077016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817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36174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36174"/>
                </a:solidFill>
                <a:latin typeface="Aptos"/>
                <a:ea typeface="Aptos"/>
                <a:cs typeface="Aptos"/>
              </a:rPr>
              <a:t>APPENDIX A1  •  11</a:t>
            </a:r>
          </a:p>
        </p:txBody>
      </p:sp>
    </p:spTree>
    <p:extLst>
      <p:ext uri="{BB962C8B-B14F-4D97-AF65-F5344CB8AC3E}">
        <p14:creationId xmlns:p14="http://schemas.microsoft.com/office/powerpoint/2010/main" val="154838997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kicker-12">
            <a:extLst xmlns:a="http://schemas.openxmlformats.org/drawingml/2006/main">
              <a:ext uri="{FF2B5EF4-FFF2-40B4-BE49-F238E27FC236}">
                <a16:creationId xmlns:a16="http://schemas.microsoft.com/office/drawing/2014/main" id="{3D8EE211-CE2D-4F76-857B-2E008EADC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ANALYTICAL APPENDIX  •  </a:t>
            </a:r>
            <a:r>
              <a:rPr sz="97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MODEL QUESTION SUPPORT</a:t>
            </a:r>
          </a:p>
        </p:txBody>
      </p:sp>
      <p:sp>
        <p:nvSpPr>
          <p:cNvPr id="2" name="title-12">
            <a:extLst xmlns:a="http://schemas.openxmlformats.org/drawingml/2006/main">
              <a:ext uri="{FF2B5EF4-FFF2-40B4-BE49-F238E27FC236}">
                <a16:creationId xmlns:a16="http://schemas.microsoft.com/office/drawing/2014/main" id="{7EAFFDD5-48BD-41D3-BC80-AA01D3258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11252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Model assumptions, outputs, and checks</a:t>
            </a:r>
          </a:p>
        </p:txBody>
      </p:sp>
      <p:graphicFrame>
        <p:nvGraphicFramePr>
          <p:cNvPr id="12" name=""/>
          <p:cNvGraphicFramePr/>
          <p:nvPr/>
        </p:nvGraphicFramePr>
        <p:xfrm>
          <a:off xmlns:a="http://schemas.openxmlformats.org/drawingml/2006/main" x="533400" y="1333500"/>
          <a:ext xmlns:a="http://schemas.openxmlformats.org/drawingml/2006/main" cx="11125200" cy="40005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476500"/>
                <a:gridCol w="2857500"/>
                <a:gridCol w="2857500"/>
                <a:gridCol w="2933700"/>
              </a:tblGrid>
              <a:tr h="500063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Model item</a:t>
                      </a:r>
                    </a:p>
                  </a:txBody>
                  <a:tcPr marL="91440" marR="91440" marT="45720" marB="45720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Input / formula</a:t>
                      </a:r>
                    </a:p>
                  </a:txBody>
                  <a:tcPr marL="91440" marR="91440" marT="45720" marB="45720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Source / definition</a:t>
                      </a:r>
                    </a:p>
                  </a:txBody>
                  <a:tcPr marL="91440" marR="91440" marT="45720" marB="45720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Check / decision use</a:t>
                      </a:r>
                    </a:p>
                  </a:txBody>
                  <a:tcPr marL="91440" marR="91440" marT="45720" marB="45720">
                    <a:solidFill>
                      <a:srgbClr val="0B1220"/>
                    </a:solidFill>
                  </a:tcPr>
                </a:tc>
              </a:tr>
              <a:tr h="500063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Revenue forecast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[Driver-linked assumption]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[S# / F#]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[Scenario tie-out]</a:t>
                      </a:r>
                    </a:p>
                  </a:txBody>
                  <a:tcPr marL="91440" marR="91440" marT="45720" marB="45720"/>
                </a:tc>
              </a:tr>
              <a:tr h="500063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Operating margin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[Assumption / formula]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[S# / F#]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[Historical / peer check]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</a:tr>
              <a:tr h="500063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Tax and NOPAT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[Formula]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[Source / course concept]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[Sign and rate check]</a:t>
                      </a:r>
                    </a:p>
                  </a:txBody>
                  <a:tcPr marL="91440" marR="91440" marT="45720" marB="45720"/>
                </a:tc>
              </a:tr>
              <a:tr h="500063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Capex / D&amp;A / NWC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[Formula / assumption]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[S# / F#]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[FCF bridge check]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</a:tr>
              <a:tr h="500063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WACC / hurdle rate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[Formula]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[F# / model source]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[Component and weight check]</a:t>
                      </a:r>
                    </a:p>
                  </a:txBody>
                  <a:tcPr marL="91440" marR="91440" marT="45720" marB="45720"/>
                </a:tc>
              </a:tr>
              <a:tr h="500063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Terminal value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[Method / formula]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[Assumption source]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[TV share and sensitivity]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</a:tr>
              <a:tr h="500063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EV → equity / NPV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[Bridge / decision output]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[Balance-sheet source]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[Tie-out = PASS / explain]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4" name="model-qa">
            <a:extLst xmlns:a="http://schemas.openxmlformats.org/drawingml/2006/main">
              <a:ext uri="{FF2B5EF4-FFF2-40B4-BE49-F238E27FC236}">
                <a16:creationId xmlns:a16="http://schemas.microsoft.com/office/drawing/2014/main" id="{D9CCFDD9-64FA-4279-A36F-656C06464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11125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91417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Model defense: [one assumption with the most decision leverage]  •  [one check that catches an error]  •  [one limitation that remains]</a:t>
            </a:r>
          </a:p>
        </p:txBody>
      </p:sp>
      <p:sp>
        <p:nvSpPr>
          <p:cNvPr id="5" name="footer-rule-12">
            <a:extLst xmlns:a="http://schemas.openxmlformats.org/drawingml/2006/main">
              <a:ext uri="{FF2B5EF4-FFF2-40B4-BE49-F238E27FC236}">
                <a16:creationId xmlns:a16="http://schemas.microsoft.com/office/drawing/2014/main" id="{DD78325A-6085-4C37-9DA6-5CE894497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05550"/>
            <a:ext cx="11125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footer-source-12">
            <a:extLst xmlns:a="http://schemas.openxmlformats.org/drawingml/2006/main">
              <a:ext uri="{FF2B5EF4-FFF2-40B4-BE49-F238E27FC236}">
                <a16:creationId xmlns:a16="http://schemas.microsoft.com/office/drawing/2014/main" id="{6CDEFCAF-34A4-40A0-BBC6-42EC67DF7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81750"/>
            <a:ext cx="971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3617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36174"/>
                </a:solidFill>
                <a:latin typeface="Aptos"/>
                <a:ea typeface="Aptos"/>
                <a:cs typeface="Aptos"/>
              </a:rPr>
              <a:t>Source: BUS311 valuation model v[date]  •  Inputs reconciled to [SEC / FactSet / other evidence IDs]</a:t>
            </a:r>
          </a:p>
        </p:txBody>
      </p:sp>
      <p:sp>
        <p:nvSpPr>
          <p:cNvPr id="7" name="footer-page-12">
            <a:extLst xmlns:a="http://schemas.openxmlformats.org/drawingml/2006/main">
              <a:ext uri="{FF2B5EF4-FFF2-40B4-BE49-F238E27FC236}">
                <a16:creationId xmlns:a16="http://schemas.microsoft.com/office/drawing/2014/main" id="{4226682C-374B-4C4F-B4BE-F32CA17FA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817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36174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36174"/>
                </a:solidFill>
                <a:latin typeface="Aptos"/>
                <a:ea typeface="Aptos"/>
                <a:cs typeface="Aptos"/>
              </a:rPr>
              <a:t>APPENDIX A2  •  12</a:t>
            </a:r>
          </a:p>
        </p:txBody>
      </p:sp>
    </p:spTree>
    <p:extLst>
      <p:ext uri="{BB962C8B-B14F-4D97-AF65-F5344CB8AC3E}">
        <p14:creationId xmlns:p14="http://schemas.microsoft.com/office/powerpoint/2010/main" val="134073173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kicker-13">
            <a:extLst xmlns:a="http://schemas.openxmlformats.org/drawingml/2006/main">
              <a:ext uri="{FF2B5EF4-FFF2-40B4-BE49-F238E27FC236}">
                <a16:creationId xmlns:a16="http://schemas.microsoft.com/office/drawing/2014/main" id="{99C4FFB3-DDA7-4371-AD09-3B66EA997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ANALYTICAL APPENDIX  •  </a:t>
            </a:r>
            <a:r>
              <a:rPr sz="97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SENSITIVITY QUESTION SUPPORT</a:t>
            </a:r>
          </a:p>
        </p:txBody>
      </p:sp>
      <p:sp>
        <p:nvSpPr>
          <p:cNvPr id="2" name="title-13">
            <a:extLst xmlns:a="http://schemas.openxmlformats.org/drawingml/2006/main">
              <a:ext uri="{FF2B5EF4-FFF2-40B4-BE49-F238E27FC236}">
                <a16:creationId xmlns:a16="http://schemas.microsoft.com/office/drawing/2014/main" id="{7FF8AF79-89E3-4B0F-A55E-AB8F4E957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11252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Sensitivity shows what overturns the decision</a:t>
            </a:r>
          </a:p>
        </p:txBody>
      </p:sp>
      <p:sp>
        <p:nvSpPr>
          <p:cNvPr id="3" name="placeholder-56-122">
            <a:extLst xmlns:a="http://schemas.openxmlformats.org/drawingml/2006/main">
              <a:ext uri="{FF2B5EF4-FFF2-40B4-BE49-F238E27FC236}">
                <a16:creationId xmlns:a16="http://schemas.microsoft.com/office/drawing/2014/main" id="{44A9AAC7-D917-44BA-ACCC-F91EE6291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62050"/>
            <a:ext cx="723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EDITABLE SENSITIVITY TABLE — PASTE VERIFIED MODEL OUTPUTS, NOT SCREENSHOTS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1476375" y="1619250"/>
          <a:ext xmlns:a="http://schemas.openxmlformats.org/drawingml/2006/main" cx="9239250" cy="2857500"/>
        </p:xfrm>
        <a:graphic xmlns:a="http://schemas.openxmlformats.org/drawingml/2006/main">
          <a:graphicData uri="http://schemas.openxmlformats.org/drawingml/2006/table">
            <a:tbl>
              <a:tblPr firstRow="1" bandRow="0"/>
              <a:tblGrid>
                <a:gridCol w="2095500"/>
                <a:gridCol w="1428750"/>
                <a:gridCol w="1428750"/>
                <a:gridCol w="1428750"/>
                <a:gridCol w="1428750"/>
                <a:gridCol w="1428750"/>
              </a:tblGrid>
              <a:tr h="571500"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[Value output]</a:t>
                      </a:r>
                    </a:p>
                  </a:txBody>
                  <a:tcPr marL="91440" marR="91440" marT="45720" marB="45720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[WACC low]</a:t>
                      </a:r>
                    </a:p>
                  </a:txBody>
                  <a:tcPr marL="91440" marR="91440" marT="45720" marB="45720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[WACC −]</a:t>
                      </a:r>
                    </a:p>
                  </a:txBody>
                  <a:tcPr marL="91440" marR="91440" marT="45720" marB="45720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[WACC base]</a:t>
                      </a:r>
                    </a:p>
                  </a:txBody>
                  <a:tcPr marL="91440" marR="91440" marT="45720" marB="45720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[WACC +]</a:t>
                      </a:r>
                    </a:p>
                  </a:txBody>
                  <a:tcPr marL="91440" marR="91440" marT="45720" marB="45720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[WACC high]</a:t>
                      </a:r>
                    </a:p>
                  </a:txBody>
                  <a:tcPr marL="91440" marR="91440" marT="45720" marB="45720">
                    <a:solidFill>
                      <a:srgbClr val="0B1220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[Terminal / driver high]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[Terminal / driver +]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[Base assumption]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 b="1">
                          <a:solidFill>
                            <a:srgbClr val="0B1220"/>
                          </a:solidFill>
                        </a:rPr>
                        <a:t>[BASE]</a:t>
                      </a:r>
                    </a:p>
                  </a:txBody>
                  <a:tcPr marL="91440" marR="91440" marT="45720" marB="45720">
                    <a:solidFill>
                      <a:srgbClr val="6DCB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[Terminal / driver low]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25">
                          <a:solidFill>
                            <a:srgbClr val="0B1220"/>
                          </a:solidFill>
                        </a:rPr>
                        <a:t>[____]</a:t>
                      </a:r>
                    </a:p>
                  </a:txBody>
                  <a:tcPr marL="91440" marR="91440" marT="45720" marB="45720">
                    <a:solidFill>
                      <a:srgbClr val="F7F9FB"/>
                    </a:solidFill>
                  </a:tcPr>
                </a:tc>
              </a:tr>
            </a:tbl>
          </a:graphicData>
        </a:graphic>
      </p:graphicFrame>
      <p:sp>
        <p:nvSpPr>
          <p:cNvPr id="5" name="sens-callout">
            <a:extLst xmlns:a="http://schemas.openxmlformats.org/drawingml/2006/main">
              <a:ext uri="{FF2B5EF4-FFF2-40B4-BE49-F238E27FC236}">
                <a16:creationId xmlns:a16="http://schemas.microsoft.com/office/drawing/2014/main" id="{08F3D011-0399-4157-B561-B3061C5C9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810125"/>
            <a:ext cx="9239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Decision boundary: [At what input or scenario does the recommendation change—and why is that boundary plausible?]</a:t>
            </a:r>
          </a:p>
        </p:txBody>
      </p:sp>
      <p:sp>
        <p:nvSpPr>
          <p:cNvPr id="6" name="footer-rule-13">
            <a:extLst xmlns:a="http://schemas.openxmlformats.org/drawingml/2006/main">
              <a:ext uri="{FF2B5EF4-FFF2-40B4-BE49-F238E27FC236}">
                <a16:creationId xmlns:a16="http://schemas.microsoft.com/office/drawing/2014/main" id="{20C1A23B-B760-4DD9-AD1B-88C1DDA6F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05550"/>
            <a:ext cx="11125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footer-source-13">
            <a:extLst xmlns:a="http://schemas.openxmlformats.org/drawingml/2006/main">
              <a:ext uri="{FF2B5EF4-FFF2-40B4-BE49-F238E27FC236}">
                <a16:creationId xmlns:a16="http://schemas.microsoft.com/office/drawing/2014/main" id="{E58F6756-16C7-41CC-A1AC-FC66A783A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81750"/>
            <a:ext cx="971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3617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36174"/>
                </a:solidFill>
                <a:latin typeface="Aptos"/>
                <a:ea typeface="Aptos"/>
                <a:cs typeface="Aptos"/>
              </a:rPr>
              <a:t>Source: BUS311 valuation model v[date]  •  Sensitivity variables and units [____]</a:t>
            </a:r>
          </a:p>
        </p:txBody>
      </p:sp>
      <p:sp>
        <p:nvSpPr>
          <p:cNvPr id="8" name="footer-page-13">
            <a:extLst xmlns:a="http://schemas.openxmlformats.org/drawingml/2006/main">
              <a:ext uri="{FF2B5EF4-FFF2-40B4-BE49-F238E27FC236}">
                <a16:creationId xmlns:a16="http://schemas.microsoft.com/office/drawing/2014/main" id="{8D19933A-2CEC-4D18-B034-C996BE509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817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36174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36174"/>
                </a:solidFill>
                <a:latin typeface="Aptos"/>
                <a:ea typeface="Aptos"/>
                <a:cs typeface="Aptos"/>
              </a:rPr>
              <a:t>APPENDIX A3  •  13</a:t>
            </a:r>
          </a:p>
        </p:txBody>
      </p:sp>
    </p:spTree>
    <p:extLst>
      <p:ext uri="{BB962C8B-B14F-4D97-AF65-F5344CB8AC3E}">
        <p14:creationId xmlns:p14="http://schemas.microsoft.com/office/powerpoint/2010/main" val="208777443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kicker-14">
            <a:extLst xmlns:a="http://schemas.openxmlformats.org/drawingml/2006/main">
              <a:ext uri="{FF2B5EF4-FFF2-40B4-BE49-F238E27FC236}">
                <a16:creationId xmlns:a16="http://schemas.microsoft.com/office/drawing/2014/main" id="{20905067-B83E-4477-94EE-C1DF95FCD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ANALYTICAL APPENDIX  •  </a:t>
            </a:r>
            <a:r>
              <a:rPr sz="97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SOURCE QUESTION SUPPORT</a:t>
            </a:r>
          </a:p>
        </p:txBody>
      </p:sp>
      <p:sp>
        <p:nvSpPr>
          <p:cNvPr id="2" name="title-14">
            <a:extLst xmlns:a="http://schemas.openxmlformats.org/drawingml/2006/main">
              <a:ext uri="{FF2B5EF4-FFF2-40B4-BE49-F238E27FC236}">
                <a16:creationId xmlns:a16="http://schemas.microsoft.com/office/drawing/2014/main" id="{D95CECB8-D0F1-48AC-9254-8BDD8EA8B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2450"/>
            <a:ext cx="111252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Source notes and final AI-use disclosure</a:t>
            </a:r>
          </a:p>
        </p:txBody>
      </p:sp>
      <p:sp>
        <p:nvSpPr>
          <p:cNvPr id="3" name="source-format-head">
            <a:extLst xmlns:a="http://schemas.openxmlformats.org/drawingml/2006/main">
              <a:ext uri="{FF2B5EF4-FFF2-40B4-BE49-F238E27FC236}">
                <a16:creationId xmlns:a16="http://schemas.microsoft.com/office/drawing/2014/main" id="{E1105A59-C989-43C8-B0C4-0E3DE9040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763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COMPACT SOURCE NOTE PATTERNS</a:t>
            </a:r>
          </a:p>
        </p:txBody>
      </p:sp>
      <p:sp>
        <p:nvSpPr>
          <p:cNvPr id="4" name="source-format">
            <a:extLst xmlns:a="http://schemas.openxmlformats.org/drawingml/2006/main">
              <a:ext uri="{FF2B5EF4-FFF2-40B4-BE49-F238E27FC236}">
                <a16:creationId xmlns:a16="http://schemas.microsoft.com/office/drawing/2014/main" id="{28496F6A-8E34-4659-98EC-45FF09F6B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76400"/>
            <a:ext cx="5238750" cy="3086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S1 — [Company], Form [10-K/10-Q/8-K/DEF 14A], filed [date], fiscal period [____], Item/page/table [____], metric [____], units/definition [____].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F1 — FactSet, [screen/report/chart/metric], data through [date], accessed [date], [currency/units/period], definition [____], peer group + rationale [____].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3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M1 — BUS311 valuation model v[date], [scenario/output/sensitivity], reconciled to [source IDs], check [PASS / explain].</a:t>
            </a:r>
          </a:p>
        </p:txBody>
      </p:sp>
      <p:sp>
        <p:nvSpPr>
          <p:cNvPr id="5" name="ai-head">
            <a:extLst xmlns:a="http://schemas.openxmlformats.org/drawingml/2006/main">
              <a:ext uri="{FF2B5EF4-FFF2-40B4-BE49-F238E27FC236}">
                <a16:creationId xmlns:a16="http://schemas.microsoft.com/office/drawing/2014/main" id="{D264E1DB-FEEF-4F25-93C7-1D9A4973E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27635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24B9A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24B9A"/>
                </a:solidFill>
                <a:latin typeface="Aptos"/>
                <a:ea typeface="Aptos"/>
                <a:cs typeface="Aptos"/>
              </a:rPr>
              <a:t>FINAL AI-USE DISCLOSURE</a:t>
            </a:r>
          </a:p>
        </p:txBody>
      </p:sp>
      <p:sp>
        <p:nvSpPr>
          <p:cNvPr id="6" name="ai-body">
            <a:extLst xmlns:a="http://schemas.openxmlformats.org/drawingml/2006/main">
              <a:ext uri="{FF2B5EF4-FFF2-40B4-BE49-F238E27FC236}">
                <a16:creationId xmlns:a16="http://schemas.microsoft.com/office/drawing/2014/main" id="{BF2BD81A-1EF8-43EF-BAEF-3CD6C0BF2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76400"/>
            <a:ext cx="5467350" cy="3086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4FD"/>
          </a:solidFill>
          <a:ln xmlns:a="http://schemas.openxmlformats.org/drawingml/2006/main" w="9525">
            <a:solidFill>
              <a:srgbClr val="6DCBF4"/>
            </a:solidFill>
            <a:prstDash val="solid"/>
          </a:ln>
        </p:spPr>
        <p:txBody>
          <a:bodyPr xmlns:a="http://schemas.openxmlformats.org/drawingml/2006/main" lIns="152400" tIns="152400" rIns="152400" bIns="1524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AI use — I used [tool] for [checkpoint purposes]. I retained [specific output] only after checking [SEC / FactSet / Excel / course evidence] and [accepted / modified / rejected] it because [brief rationale]. My judgment overruled AI when [____]. No raw FactSet export, screenshot, workbook, personal information, instructor-only material, or nonpublic information was uploaded.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4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AI is not a source. All retained claims, calculations, prose, and visuals are independently verified and individually owned.</a:t>
            </a:r>
          </a:p>
        </p:txBody>
      </p:sp>
      <p:sp>
        <p:nvSpPr>
          <p:cNvPr id="7" name="source-close">
            <a:extLst xmlns:a="http://schemas.openxmlformats.org/drawingml/2006/main">
              <a:ext uri="{FF2B5EF4-FFF2-40B4-BE49-F238E27FC236}">
                <a16:creationId xmlns:a16="http://schemas.microsoft.com/office/drawing/2014/main" id="{FB3B32F3-CB00-48B8-9229-5A129D435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91125"/>
            <a:ext cx="111252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220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38100" rIns="381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Before submission: open the saved PPTX  •  verify fonts and chart links  •  inspect source-note legibility  •  run Accessibility Checker  •  confirm 8–10 core slides</a:t>
            </a:r>
          </a:p>
        </p:txBody>
      </p:sp>
      <p:sp>
        <p:nvSpPr>
          <p:cNvPr id="8" name="footer-rule-14">
            <a:extLst xmlns:a="http://schemas.openxmlformats.org/drawingml/2006/main">
              <a:ext uri="{FF2B5EF4-FFF2-40B4-BE49-F238E27FC236}">
                <a16:creationId xmlns:a16="http://schemas.microsoft.com/office/drawing/2014/main" id="{DE555B0F-47D7-4916-96FC-4CFC7A06B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05550"/>
            <a:ext cx="11125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footer-source-14">
            <a:extLst xmlns:a="http://schemas.openxmlformats.org/drawingml/2006/main">
              <a:ext uri="{FF2B5EF4-FFF2-40B4-BE49-F238E27FC236}">
                <a16:creationId xmlns:a16="http://schemas.microsoft.com/office/drawing/2014/main" id="{B9C10A98-67F0-49F2-9BE7-097256BC2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81750"/>
            <a:ext cx="971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36174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536174"/>
                </a:solidFill>
                <a:latin typeface="Aptos"/>
                <a:ea typeface="Aptos"/>
                <a:cs typeface="Aptos"/>
              </a:rPr>
              <a:t>AI output is not a source  •  No AI-generated chart images as financial evidence</a:t>
            </a:r>
          </a:p>
        </p:txBody>
      </p:sp>
      <p:sp>
        <p:nvSpPr>
          <p:cNvPr id="10" name="footer-page-14">
            <a:extLst xmlns:a="http://schemas.openxmlformats.org/drawingml/2006/main">
              <a:ext uri="{FF2B5EF4-FFF2-40B4-BE49-F238E27FC236}">
                <a16:creationId xmlns:a16="http://schemas.microsoft.com/office/drawing/2014/main" id="{792E579C-E5EC-4191-91F5-D6C1DEE63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381750"/>
            <a:ext cx="137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36174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36174"/>
                </a:solidFill>
                <a:latin typeface="Aptos"/>
                <a:ea typeface="Aptos"/>
                <a:cs typeface="Aptos"/>
              </a:rPr>
              <a:t>APPENDIX A4  •  14</a:t>
            </a:r>
          </a:p>
        </p:txBody>
      </p:sp>
    </p:spTree>
    <p:extLst>
      <p:ext uri="{BB962C8B-B14F-4D97-AF65-F5344CB8AC3E}">
        <p14:creationId xmlns:p14="http://schemas.microsoft.com/office/powerpoint/2010/main" val="144856826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2026-08-11T13:13:50.8010000Z</dcterms:created>
  <dcterms:modified xsi:type="dcterms:W3CDTF">2026-08-11T13:13:50.8010000Z</dcterms:modified>
</coreProperties>
</file>