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fd9fd8bc314348" /><Relationship Type="http://schemas.openxmlformats.org/officeDocument/2006/relationships/extended-properties" Target="/docProps/app.xml" Id="Re3f5cbc601284fa0" /><Relationship Type="http://schemas.openxmlformats.org/officeDocument/2006/relationships/officeDocument" Target="/ppt/presentation.xml" Id="R23f6c7caaec843d3" /></Relationships>
</file>

<file path=ppt/presentation.xml><?xml version="1.0" encoding="utf-8"?>
<p:presentation xmlns:p="http://schemas.openxmlformats.org/presentationml/2006/main">
  <p:sldMasterIdLst>
    <p:sldMasterId xmlns:r="http://schemas.openxmlformats.org/officeDocument/2006/relationships" id="2147483648" r:id="R76ba55e2c24e4a6a"/>
  </p:sldMasterIdLst>
  <p:notesMasterIdLst>
    <p:notesMasterId xmlns:r="http://schemas.openxmlformats.org/officeDocument/2006/relationships" r:id="R0bf750d9665d48b8"/>
  </p:notesMasterIdLst>
  <p:sldIdLst>
    <p:sldId xmlns:r="http://schemas.openxmlformats.org/officeDocument/2006/relationships" id="256" r:id="R4e02067668f847d2"/>
    <p:sldId xmlns:r="http://schemas.openxmlformats.org/officeDocument/2006/relationships" id="257" r:id="Rcfc62eefebd04d28"/>
    <p:sldId xmlns:r="http://schemas.openxmlformats.org/officeDocument/2006/relationships" id="258" r:id="Rf46ad088484a403d"/>
    <p:sldId xmlns:r="http://schemas.openxmlformats.org/officeDocument/2006/relationships" id="259" r:id="Re798b4c361fb479b"/>
    <p:sldId xmlns:r="http://schemas.openxmlformats.org/officeDocument/2006/relationships" id="260" r:id="R0b9609af9d184e58"/>
    <p:sldId xmlns:r="http://schemas.openxmlformats.org/officeDocument/2006/relationships" id="261" r:id="Rcf23dfcc79574a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c650b8ef164ca5" /><Relationship Type="http://schemas.openxmlformats.org/officeDocument/2006/relationships/slideMaster" Target="/ppt/slideMasters/slideMaster1.xml" Id="R76ba55e2c24e4a6a" /><Relationship Type="http://schemas.openxmlformats.org/officeDocument/2006/relationships/notesMaster" Target="/ppt/notesMasters/notesMaster1.xml" Id="R0bf750d9665d48b8" /><Relationship Type="http://schemas.openxmlformats.org/officeDocument/2006/relationships/presProps" Target="/ppt/presProps.xml" Id="R5fa70be23f60493e" /><Relationship Type="http://schemas.openxmlformats.org/officeDocument/2006/relationships/tableStyles" Target="/ppt/tableStyles.xml" Id="Rcf5d49f84f5a4814" /><Relationship Type="http://schemas.openxmlformats.org/officeDocument/2006/relationships/slide" Target="/ppt/slides/slide1.xml" Id="R4e02067668f847d2" /><Relationship Type="http://schemas.openxmlformats.org/officeDocument/2006/relationships/slide" Target="/ppt/slides/slide2.xml" Id="Rcfc62eefebd04d28" /><Relationship Type="http://schemas.openxmlformats.org/officeDocument/2006/relationships/slide" Target="/ppt/slides/slide3.xml" Id="Rf46ad088484a403d" /><Relationship Type="http://schemas.openxmlformats.org/officeDocument/2006/relationships/slide" Target="/ppt/slides/slide4.xml" Id="Re798b4c361fb479b" /><Relationship Type="http://schemas.openxmlformats.org/officeDocument/2006/relationships/slide" Target="/ppt/slides/slide5.xml" Id="R0b9609af9d184e58" /><Relationship Type="http://schemas.openxmlformats.org/officeDocument/2006/relationships/slide" Target="/ppt/slides/slide6.xml" Id="Rcf23dfcc79574a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633ccfc28843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c384eec7a14ef5" /><Relationship Type="http://schemas.openxmlformats.org/officeDocument/2006/relationships/notesMaster" Target="/ppt/notesMasters/notesMaster1.xml" Id="Rdab1202aadb441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477bcb48b14925" /><Relationship Type="http://schemas.openxmlformats.org/officeDocument/2006/relationships/notesMaster" Target="/ppt/notesMasters/notesMaster1.xml" Id="Rd2852ca7e13d48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58b99ef99a4a54" /><Relationship Type="http://schemas.openxmlformats.org/officeDocument/2006/relationships/notesMaster" Target="/ppt/notesMasters/notesMaster1.xml" Id="R0565e20eeac349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5660a48db34b7f" /><Relationship Type="http://schemas.openxmlformats.org/officeDocument/2006/relationships/notesMaster" Target="/ppt/notesMasters/notesMaster1.xml" Id="Rb46478e2df6a4a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7b297a8ac9491c" /><Relationship Type="http://schemas.openxmlformats.org/officeDocument/2006/relationships/notesMaster" Target="/ppt/notesMasters/notesMaster1.xml" Id="R158604e8a0c84f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3c173c70f74c40" /><Relationship Type="http://schemas.openxmlformats.org/officeDocument/2006/relationships/notesMaster" Target="/ppt/notesMasters/notesMaster1.xml" Id="R7e3aef3d27ad44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Lead with your recommendation; identify the status quo. Replace all bracketed prompts with your own company analysis. Use editable text and readable charts. Identify company facts and assumptions separately. Use six core slides; append supporting source or calculation slides only if useful. If AI was used, add a brief disclosure in the source notes or appendix. The full presentation is seven minutes, followed by three minutes of live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Connect sales or cash conversion to the proposed action. Replace all bracketed prompts with your own company analysis. Use editable text and readable charts. Identify company facts and assumptions separately. Use six core slides; append supporting source or calculation slides only if useful. If AI was used, add a brief disclosure in the source notes or appendix. The full presentation is seven minutes, followed by three minutes of live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Separate reported facts from your estimate. Replace all bracketed prompts with your own company analysis. Use editable text and readable charts. Identify company facts and assumptions separately. Use six core slides; append supporting source or calculation slides only if useful. If AI was used, add a brief disclosure in the source notes or appendix. The full presentation is seven minutes, followed by three minutes of live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90 seconds. Explain initial cash flow, annual cash flow, and discounting. The status quo has zero incremental NPV. Replace all bracketed prompts with your own company analysis. Use editable text and readable charts. Identify company facts and assumptions separately. Use six core slides; append supporting source or calculation slides only if useful. If AI was used, add a brief disclosure in the source notes or appendix. The full presentation is seven minutes, followed by three minutes of live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Acknowledge uncertainty without hiding the decision. Replace all bracketed prompts with your own company analysis. Use editable text and readable charts. Identify company facts and assumptions separately. Use six core slides; append supporting source or calculation slides only if useful. If AI was used, add a brief disclosure in the source notes or appendix. The full presentation is seven minutes, followed by three minutes of live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Restate the requested decision. Leave time for transitions. Replace all bracketed prompts with your own company analysis. Use editable text and readable charts. Identify company facts and assumptions separately. Use six core slides; append supporting source or calculation slides only if useful. If AI was used, add a brief disclosure in the source notes or appendix. The full presentation is seven minutes, followed by three minutes of live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ad945272f94b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f721da22194224" /><Relationship Type="http://schemas.openxmlformats.org/officeDocument/2006/relationships/slideLayout" Target="/ppt/slideLayouts/slideLayout1.xml" Id="R930b1b9c77e847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0b1b9c77e847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1a846d0da94ac5" /><Relationship Type="http://schemas.openxmlformats.org/officeDocument/2006/relationships/notesSlide" Target="/ppt/notesSlides/notesSlide1.xml" Id="Rb3ee3dacac954e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e88efd96234016" /><Relationship Type="http://schemas.openxmlformats.org/officeDocument/2006/relationships/notesSlide" Target="/ppt/notesSlides/notesSlide2.xml" Id="Rc11311fbd0974a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fffdc634e74e4d" /><Relationship Type="http://schemas.openxmlformats.org/officeDocument/2006/relationships/notesSlide" Target="/ppt/notesSlides/notesSlide3.xml" Id="R70a6e35f5cd349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396e0f6e1e4b73" /><Relationship Type="http://schemas.openxmlformats.org/officeDocument/2006/relationships/notesSlide" Target="/ppt/notesSlides/notesSlide4.xml" Id="R80d5c8b76aa743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0e5ca0f6d349ff" /><Relationship Type="http://schemas.openxmlformats.org/officeDocument/2006/relationships/notesSlide" Target="/ppt/notesSlides/notesSlide5.xml" Id="R801bda031bf746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32c9a7c1b34356" /><Relationship Type="http://schemas.openxmlformats.org/officeDocument/2006/relationships/notesSlide" Target="/ppt/notesSlides/notesSlide6.xml" Id="Rdd8153baf08443dc" /></Relationships>
</file>

<file path=ppt/slides/slide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4CDCCB-4607-4AAA-A9F3-16A32EBFF3CC}"/>
              </a:ext>
            </a:extLst>
          </p:cNvPr>
          <p:cNvSpPr>
            <a:spLocks xmlns:a="http://schemas.openxmlformats.org/drawingml/2006/main" noGrp="1"/>
          </p:cNvSpPr>
          <p:nvPr/>
        </p:nvSpPr>
        <p:spPr>
          <a:xfrm xmlns:a="http://schemas.openxmlformats.org/drawingml/2006/main">
            <a:off x="666750" y="3333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13D24"/>
                </a:solidFill>
                <a:latin typeface="Helvetica Neue"/>
                <a:ea typeface="Helvetica Neue"/>
                <a:cs typeface="Helvetica Neue"/>
              </a:defRPr>
            </a:pPr>
            <a:r>
              <a:rPr sz="1500" b="1">
                <a:solidFill>
                  <a:srgbClr val="813D24"/>
                </a:solidFill>
                <a:latin typeface="Helvetica Neue"/>
                <a:ea typeface="Helvetica Neue"/>
                <a:cs typeface="Helvetica Neue"/>
              </a:rPr>
              <a:t>BUS311  •  COMPANY DECISION</a:t>
            </a:r>
          </a:p>
        </p:txBody>
      </p:sp>
      <p:sp>
        <p:nvSpPr>
          <p:cNvPr id="2" name="">
            <a:extLst xmlns:a="http://schemas.openxmlformats.org/drawingml/2006/main">
              <a:ext uri="{FF2B5EF4-FFF2-40B4-BE49-F238E27FC236}">
                <a16:creationId xmlns:a16="http://schemas.microsoft.com/office/drawing/2014/main" id="{0DAE0300-0029-41E6-B16D-60BC58AEFAE2}"/>
              </a:ext>
            </a:extLst>
          </p:cNvPr>
          <p:cNvSpPr>
            <a:spLocks xmlns:a="http://schemas.openxmlformats.org/drawingml/2006/main" noGrp="1"/>
          </p:cNvSpPr>
          <p:nvPr/>
        </p:nvSpPr>
        <p:spPr>
          <a:xfrm xmlns:a="http://schemas.openxmlformats.org/drawingml/2006/main">
            <a:off x="666750" y="857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536"/>
                </a:solidFill>
                <a:latin typeface="Helvetica Neue"/>
                <a:ea typeface="Helvetica Neue"/>
                <a:cs typeface="Helvetica Neue"/>
              </a:defRPr>
            </a:pPr>
            <a:r>
              <a:rPr sz="3300" b="1">
                <a:solidFill>
                  <a:srgbClr val="152536"/>
                </a:solidFill>
                <a:latin typeface="Helvetica Neue"/>
                <a:ea typeface="Helvetica Neue"/>
                <a:cs typeface="Helvetica Neue"/>
              </a:rPr>
              <a:t>What should the company do?</a:t>
            </a:r>
          </a:p>
        </p:txBody>
      </p:sp>
      <p:sp>
        <p:nvSpPr>
          <p:cNvPr id="3" name="">
            <a:extLst xmlns:a="http://schemas.openxmlformats.org/drawingml/2006/main">
              <a:ext uri="{FF2B5EF4-FFF2-40B4-BE49-F238E27FC236}">
                <a16:creationId xmlns:a16="http://schemas.microsoft.com/office/drawing/2014/main" id="{9FFDBF5D-F1A5-43B9-AC93-048E967394E3}"/>
              </a:ext>
            </a:extLst>
          </p:cNvPr>
          <p:cNvSpPr>
            <a:spLocks xmlns:a="http://schemas.openxmlformats.org/drawingml/2006/main" noGrp="1"/>
          </p:cNvSpPr>
          <p:nvPr/>
        </p:nvSpPr>
        <p:spPr>
          <a:xfrm xmlns:a="http://schemas.openxmlformats.org/drawingml/2006/main">
            <a:off x="666750" y="1952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536"/>
                </a:solidFill>
                <a:latin typeface="Helvetica Neue"/>
                <a:ea typeface="Helvetica Neue"/>
                <a:cs typeface="Helvetica Neue"/>
              </a:defRPr>
            </a:pPr>
            <a:r>
              <a:rPr sz="2175" b="0">
                <a:solidFill>
                  <a:srgbClr val="152536"/>
                </a:solidFill>
                <a:latin typeface="Helvetica Neue"/>
                <a:ea typeface="Helvetica Neue"/>
                <a:cs typeface="Helvetica Neue"/>
              </a:rPr>
              <a:t>State the company, your name, the proposed action, and one clear recommendation.</a:t>
            </a:r>
          </a:p>
        </p:txBody>
      </p:sp>
      <p:sp>
        <p:nvSpPr>
          <p:cNvPr id="4" name="">
            <a:extLst xmlns:a="http://schemas.openxmlformats.org/drawingml/2006/main">
              <a:ext uri="{FF2B5EF4-FFF2-40B4-BE49-F238E27FC236}">
                <a16:creationId xmlns:a16="http://schemas.microsoft.com/office/drawing/2014/main" id="{A2DF6A02-9447-428C-8693-3CCC2DAAE871}"/>
              </a:ext>
            </a:extLst>
          </p:cNvPr>
          <p:cNvSpPr>
            <a:spLocks xmlns:a="http://schemas.openxmlformats.org/drawingml/2006/main" noGrp="1"/>
          </p:cNvSpPr>
          <p:nvPr/>
        </p:nvSpPr>
        <p:spPr>
          <a:xfrm xmlns:a="http://schemas.openxmlformats.org/drawingml/2006/main">
            <a:off x="666750" y="328612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55773"/>
                </a:solidFill>
                <a:latin typeface="Helvetica Neue"/>
                <a:ea typeface="Helvetica Neue"/>
                <a:cs typeface="Helvetica Neue"/>
              </a:defRPr>
            </a:pPr>
            <a:r>
              <a:rPr sz="2325" b="0">
                <a:solidFill>
                  <a:srgbClr val="355773"/>
                </a:solidFill>
                <a:latin typeface="Helvetica Neue"/>
                <a:ea typeface="Helvetica Neue"/>
                <a:cs typeface="Helvetica Neue"/>
              </a:rPr>
              <a:t>[Replace this space with your company-specific conclusion and evidence.]</a:t>
            </a:r>
          </a:p>
        </p:txBody>
      </p:sp>
      <p:sp>
        <p:nvSpPr>
          <p:cNvPr id="5" name="">
            <a:extLst xmlns:a="http://schemas.openxmlformats.org/drawingml/2006/main">
              <a:ext uri="{FF2B5EF4-FFF2-40B4-BE49-F238E27FC236}">
                <a16:creationId xmlns:a16="http://schemas.microsoft.com/office/drawing/2014/main" id="{17B2A17A-0C84-4769-9CF9-F8D192A88B05}"/>
              </a:ext>
            </a:extLst>
          </p:cNvPr>
          <p:cNvSpPr>
            <a:spLocks xmlns:a="http://schemas.openxmlformats.org/drawingml/2006/main" noGrp="1"/>
          </p:cNvSpPr>
          <p:nvPr/>
        </p:nvSpPr>
        <p:spPr>
          <a:xfrm xmlns:a="http://schemas.openxmlformats.org/drawingml/2006/main">
            <a:off x="666750" y="48101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536"/>
                </a:solidFill>
                <a:latin typeface="Helvetica Neue"/>
                <a:ea typeface="Helvetica Neue"/>
                <a:cs typeface="Helvetica Neue"/>
              </a:defRPr>
            </a:pPr>
            <a:r>
              <a:rPr sz="1725" b="0">
                <a:solidFill>
                  <a:srgbClr val="152536"/>
                </a:solidFill>
                <a:latin typeface="Helvetica Neue"/>
                <a:ea typeface="Helvetica Neue"/>
                <a:cs typeface="Helvetica Neue"/>
              </a:rPr>
              <a:t>Evidence to include: One sentence naming the decision and its scope.</a:t>
            </a:r>
          </a:p>
        </p:txBody>
      </p:sp>
      <p:sp>
        <p:nvSpPr>
          <p:cNvPr id="6" name="">
            <a:extLst xmlns:a="http://schemas.openxmlformats.org/drawingml/2006/main">
              <a:ext uri="{FF2B5EF4-FFF2-40B4-BE49-F238E27FC236}">
                <a16:creationId xmlns:a16="http://schemas.microsoft.com/office/drawing/2014/main" id="{6A0A83D6-4EDC-484B-AC62-735DEFD79728}"/>
              </a:ext>
            </a:extLst>
          </p:cNvPr>
          <p:cNvSpPr>
            <a:spLocks xmlns:a="http://schemas.openxmlformats.org/drawingml/2006/main" noGrp="1"/>
          </p:cNvSpPr>
          <p:nvPr/>
        </p:nvSpPr>
        <p:spPr>
          <a:xfrm xmlns:a="http://schemas.openxmlformats.org/drawingml/2006/main">
            <a:off x="666750" y="60483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F5965"/>
                </a:solidFill>
                <a:latin typeface="Helvetica Neue"/>
                <a:ea typeface="Helvetica Neue"/>
                <a:cs typeface="Helvetica Neue"/>
              </a:defRPr>
            </a:pPr>
            <a:r>
              <a:rPr sz="1275" b="0">
                <a:solidFill>
                  <a:srgbClr val="4F5965"/>
                </a:solidFill>
                <a:latin typeface="Helvetica Neue"/>
                <a:ea typeface="Helvetica Neue"/>
                <a:cs typeface="Helvetica Neue"/>
              </a:rPr>
              <a:t>Source: [filing/report, period, units, source ID; model version and cell where applicable]</a:t>
            </a:r>
          </a:p>
        </p:txBody>
      </p:sp>
      <p:sp>
        <p:nvSpPr>
          <p:cNvPr id="7" name="">
            <a:extLst xmlns:a="http://schemas.openxmlformats.org/drawingml/2006/main">
              <a:ext uri="{FF2B5EF4-FFF2-40B4-BE49-F238E27FC236}">
                <a16:creationId xmlns:a16="http://schemas.microsoft.com/office/drawing/2014/main" id="{4AF9B6AC-06A5-4C28-BC99-3015A725FEC3}"/>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F5965"/>
                </a:solidFill>
                <a:latin typeface="Helvetica Neue"/>
                <a:ea typeface="Helvetica Neue"/>
                <a:cs typeface="Helvetica Neue"/>
              </a:defRPr>
            </a:pPr>
            <a:r>
              <a:rPr sz="1350" b="0">
                <a:solidFill>
                  <a:srgbClr val="4F5965"/>
                </a:solidFill>
                <a:latin typeface="Helvetica Neue"/>
                <a:ea typeface="Helvetica Neue"/>
                <a:cs typeface="Helvetica Neue"/>
              </a:rPr>
              <a:t>1</a:t>
            </a:r>
          </a:p>
        </p:txBody>
      </p:sp>
    </p:spTree>
    <p:extLst>
      <p:ext uri="{BB962C8B-B14F-4D97-AF65-F5344CB8AC3E}">
        <p14:creationId xmlns:p14="http://schemas.microsoft.com/office/powerpoint/2010/main" val="266404275"/>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7B01EA-3311-4374-8996-7FCCDA2DC350}"/>
              </a:ext>
            </a:extLst>
          </p:cNvPr>
          <p:cNvSpPr>
            <a:spLocks xmlns:a="http://schemas.openxmlformats.org/drawingml/2006/main" noGrp="1"/>
          </p:cNvSpPr>
          <p:nvPr/>
        </p:nvSpPr>
        <p:spPr>
          <a:xfrm xmlns:a="http://schemas.openxmlformats.org/drawingml/2006/main">
            <a:off x="666750" y="3333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13D24"/>
                </a:solidFill>
                <a:latin typeface="Helvetica Neue"/>
                <a:ea typeface="Helvetica Neue"/>
                <a:cs typeface="Helvetica Neue"/>
              </a:defRPr>
            </a:pPr>
            <a:r>
              <a:rPr sz="1500" b="1">
                <a:solidFill>
                  <a:srgbClr val="813D24"/>
                </a:solidFill>
                <a:latin typeface="Helvetica Neue"/>
                <a:ea typeface="Helvetica Neue"/>
                <a:cs typeface="Helvetica Neue"/>
              </a:rPr>
              <a:t>BUS311  •  COMPANY DECISION</a:t>
            </a:r>
          </a:p>
        </p:txBody>
      </p:sp>
      <p:sp>
        <p:nvSpPr>
          <p:cNvPr id="2" name="">
            <a:extLst xmlns:a="http://schemas.openxmlformats.org/drawingml/2006/main">
              <a:ext uri="{FF2B5EF4-FFF2-40B4-BE49-F238E27FC236}">
                <a16:creationId xmlns:a16="http://schemas.microsoft.com/office/drawing/2014/main" id="{33B396E2-6489-4282-BC76-B27430F8A9D5}"/>
              </a:ext>
            </a:extLst>
          </p:cNvPr>
          <p:cNvSpPr>
            <a:spLocks xmlns:a="http://schemas.openxmlformats.org/drawingml/2006/main" noGrp="1"/>
          </p:cNvSpPr>
          <p:nvPr/>
        </p:nvSpPr>
        <p:spPr>
          <a:xfrm xmlns:a="http://schemas.openxmlformats.org/drawingml/2006/main">
            <a:off x="666750" y="857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536"/>
                </a:solidFill>
                <a:latin typeface="Helvetica Neue"/>
                <a:ea typeface="Helvetica Neue"/>
                <a:cs typeface="Helvetica Neue"/>
              </a:defRPr>
            </a:pPr>
            <a:r>
              <a:rPr sz="3300" b="1">
                <a:solidFill>
                  <a:srgbClr val="152536"/>
                </a:solidFill>
                <a:latin typeface="Helvetica Neue"/>
                <a:ea typeface="Helvetica Neue"/>
                <a:cs typeface="Helvetica Neue"/>
              </a:rPr>
              <a:t>Why this decision?</a:t>
            </a:r>
          </a:p>
        </p:txBody>
      </p:sp>
      <p:sp>
        <p:nvSpPr>
          <p:cNvPr id="3" name="">
            <a:extLst xmlns:a="http://schemas.openxmlformats.org/drawingml/2006/main">
              <a:ext uri="{FF2B5EF4-FFF2-40B4-BE49-F238E27FC236}">
                <a16:creationId xmlns:a16="http://schemas.microsoft.com/office/drawing/2014/main" id="{0FDB47F5-63FB-4EBE-965B-3E4D55281130}"/>
              </a:ext>
            </a:extLst>
          </p:cNvPr>
          <p:cNvSpPr>
            <a:spLocks xmlns:a="http://schemas.openxmlformats.org/drawingml/2006/main" noGrp="1"/>
          </p:cNvSpPr>
          <p:nvPr/>
        </p:nvSpPr>
        <p:spPr>
          <a:xfrm xmlns:a="http://schemas.openxmlformats.org/drawingml/2006/main">
            <a:off x="666750" y="1952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536"/>
                </a:solidFill>
                <a:latin typeface="Helvetica Neue"/>
                <a:ea typeface="Helvetica Neue"/>
                <a:cs typeface="Helvetica Neue"/>
              </a:defRPr>
            </a:pPr>
            <a:r>
              <a:rPr sz="2175" b="0">
                <a:solidFill>
                  <a:srgbClr val="152536"/>
                </a:solidFill>
                <a:latin typeface="Helvetica Neue"/>
                <a:ea typeface="Helvetica Neue"/>
                <a:cs typeface="Helvetica Neue"/>
              </a:rPr>
              <a:t>Explain the business need and how the company makes money.</a:t>
            </a:r>
          </a:p>
        </p:txBody>
      </p:sp>
      <p:sp>
        <p:nvSpPr>
          <p:cNvPr id="4" name="">
            <a:extLst xmlns:a="http://schemas.openxmlformats.org/drawingml/2006/main">
              <a:ext uri="{FF2B5EF4-FFF2-40B4-BE49-F238E27FC236}">
                <a16:creationId xmlns:a16="http://schemas.microsoft.com/office/drawing/2014/main" id="{530D5F8F-BE25-48F1-952B-6E5E8FEFC9E3}"/>
              </a:ext>
            </a:extLst>
          </p:cNvPr>
          <p:cNvSpPr>
            <a:spLocks xmlns:a="http://schemas.openxmlformats.org/drawingml/2006/main" noGrp="1"/>
          </p:cNvSpPr>
          <p:nvPr/>
        </p:nvSpPr>
        <p:spPr>
          <a:xfrm xmlns:a="http://schemas.openxmlformats.org/drawingml/2006/main">
            <a:off x="666750" y="328612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55773"/>
                </a:solidFill>
                <a:latin typeface="Helvetica Neue"/>
                <a:ea typeface="Helvetica Neue"/>
                <a:cs typeface="Helvetica Neue"/>
              </a:defRPr>
            </a:pPr>
            <a:r>
              <a:rPr sz="2325" b="0">
                <a:solidFill>
                  <a:srgbClr val="355773"/>
                </a:solidFill>
                <a:latin typeface="Helvetica Neue"/>
                <a:ea typeface="Helvetica Neue"/>
                <a:cs typeface="Helvetica Neue"/>
              </a:rPr>
              <a:t>[Replace this space with your company-specific conclusion and evidence.]</a:t>
            </a:r>
          </a:p>
        </p:txBody>
      </p:sp>
      <p:sp>
        <p:nvSpPr>
          <p:cNvPr id="5" name="">
            <a:extLst xmlns:a="http://schemas.openxmlformats.org/drawingml/2006/main">
              <a:ext uri="{FF2B5EF4-FFF2-40B4-BE49-F238E27FC236}">
                <a16:creationId xmlns:a16="http://schemas.microsoft.com/office/drawing/2014/main" id="{64C5C479-41F4-4388-A6C6-DD793910DA83}"/>
              </a:ext>
            </a:extLst>
          </p:cNvPr>
          <p:cNvSpPr>
            <a:spLocks xmlns:a="http://schemas.openxmlformats.org/drawingml/2006/main" noGrp="1"/>
          </p:cNvSpPr>
          <p:nvPr/>
        </p:nvSpPr>
        <p:spPr>
          <a:xfrm xmlns:a="http://schemas.openxmlformats.org/drawingml/2006/main">
            <a:off x="666750" y="48101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536"/>
                </a:solidFill>
                <a:latin typeface="Helvetica Neue"/>
                <a:ea typeface="Helvetica Neue"/>
                <a:cs typeface="Helvetica Neue"/>
              </a:defRPr>
            </a:pPr>
            <a:r>
              <a:rPr sz="1725" b="0">
                <a:solidFill>
                  <a:srgbClr val="152536"/>
                </a:solidFill>
                <a:latin typeface="Helvetica Neue"/>
                <a:ea typeface="Helvetica Neue"/>
                <a:cs typeface="Helvetica Neue"/>
              </a:rPr>
              <a:t>Evidence to include: A simple three-year sales chart and two drivers.</a:t>
            </a:r>
          </a:p>
        </p:txBody>
      </p:sp>
      <p:sp>
        <p:nvSpPr>
          <p:cNvPr id="6" name="">
            <a:extLst xmlns:a="http://schemas.openxmlformats.org/drawingml/2006/main">
              <a:ext uri="{FF2B5EF4-FFF2-40B4-BE49-F238E27FC236}">
                <a16:creationId xmlns:a16="http://schemas.microsoft.com/office/drawing/2014/main" id="{DA8C576D-0BB3-49D6-AFDD-A78903F4C9B5}"/>
              </a:ext>
            </a:extLst>
          </p:cNvPr>
          <p:cNvSpPr>
            <a:spLocks xmlns:a="http://schemas.openxmlformats.org/drawingml/2006/main" noGrp="1"/>
          </p:cNvSpPr>
          <p:nvPr/>
        </p:nvSpPr>
        <p:spPr>
          <a:xfrm xmlns:a="http://schemas.openxmlformats.org/drawingml/2006/main">
            <a:off x="666750" y="60483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F5965"/>
                </a:solidFill>
                <a:latin typeface="Helvetica Neue"/>
                <a:ea typeface="Helvetica Neue"/>
                <a:cs typeface="Helvetica Neue"/>
              </a:defRPr>
            </a:pPr>
            <a:r>
              <a:rPr sz="1275" b="0">
                <a:solidFill>
                  <a:srgbClr val="4F5965"/>
                </a:solidFill>
                <a:latin typeface="Helvetica Neue"/>
                <a:ea typeface="Helvetica Neue"/>
                <a:cs typeface="Helvetica Neue"/>
              </a:rPr>
              <a:t>Source: [filing/report, period, units, source ID; model version and cell where applicable]</a:t>
            </a:r>
          </a:p>
        </p:txBody>
      </p:sp>
      <p:sp>
        <p:nvSpPr>
          <p:cNvPr id="7" name="">
            <a:extLst xmlns:a="http://schemas.openxmlformats.org/drawingml/2006/main">
              <a:ext uri="{FF2B5EF4-FFF2-40B4-BE49-F238E27FC236}">
                <a16:creationId xmlns:a16="http://schemas.microsoft.com/office/drawing/2014/main" id="{35F28A36-6EFE-4826-AF76-13FDF31AB19B}"/>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F5965"/>
                </a:solidFill>
                <a:latin typeface="Helvetica Neue"/>
                <a:ea typeface="Helvetica Neue"/>
                <a:cs typeface="Helvetica Neue"/>
              </a:defRPr>
            </a:pPr>
            <a:r>
              <a:rPr sz="1350" b="0">
                <a:solidFill>
                  <a:srgbClr val="4F5965"/>
                </a:solidFill>
                <a:latin typeface="Helvetica Neue"/>
                <a:ea typeface="Helvetica Neue"/>
                <a:cs typeface="Helvetica Neue"/>
              </a:rPr>
              <a:t>2</a:t>
            </a:r>
          </a:p>
        </p:txBody>
      </p:sp>
    </p:spTree>
    <p:extLst>
      <p:ext uri="{BB962C8B-B14F-4D97-AF65-F5344CB8AC3E}">
        <p14:creationId xmlns:p14="http://schemas.microsoft.com/office/powerpoint/2010/main" val="1054476929"/>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1CEF82-5A1A-4605-A803-7BC087F09114}"/>
              </a:ext>
            </a:extLst>
          </p:cNvPr>
          <p:cNvSpPr>
            <a:spLocks xmlns:a="http://schemas.openxmlformats.org/drawingml/2006/main" noGrp="1"/>
          </p:cNvSpPr>
          <p:nvPr/>
        </p:nvSpPr>
        <p:spPr>
          <a:xfrm xmlns:a="http://schemas.openxmlformats.org/drawingml/2006/main">
            <a:off x="666750" y="3333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13D24"/>
                </a:solidFill>
                <a:latin typeface="Helvetica Neue"/>
                <a:ea typeface="Helvetica Neue"/>
                <a:cs typeface="Helvetica Neue"/>
              </a:defRPr>
            </a:pPr>
            <a:r>
              <a:rPr sz="1500" b="1">
                <a:solidFill>
                  <a:srgbClr val="813D24"/>
                </a:solidFill>
                <a:latin typeface="Helvetica Neue"/>
                <a:ea typeface="Helvetica Neue"/>
                <a:cs typeface="Helvetica Neue"/>
              </a:rPr>
              <a:t>BUS311  •  COMPANY DECISION</a:t>
            </a:r>
          </a:p>
        </p:txBody>
      </p:sp>
      <p:sp>
        <p:nvSpPr>
          <p:cNvPr id="2" name="">
            <a:extLst xmlns:a="http://schemas.openxmlformats.org/drawingml/2006/main">
              <a:ext uri="{FF2B5EF4-FFF2-40B4-BE49-F238E27FC236}">
                <a16:creationId xmlns:a16="http://schemas.microsoft.com/office/drawing/2014/main" id="{D6C8894F-8AFB-491A-950C-13E9F2BDB987}"/>
              </a:ext>
            </a:extLst>
          </p:cNvPr>
          <p:cNvSpPr>
            <a:spLocks xmlns:a="http://schemas.openxmlformats.org/drawingml/2006/main" noGrp="1"/>
          </p:cNvSpPr>
          <p:nvPr/>
        </p:nvSpPr>
        <p:spPr>
          <a:xfrm xmlns:a="http://schemas.openxmlformats.org/drawingml/2006/main">
            <a:off x="666750" y="857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536"/>
                </a:solidFill>
                <a:latin typeface="Helvetica Neue"/>
                <a:ea typeface="Helvetica Neue"/>
                <a:cs typeface="Helvetica Neue"/>
              </a:defRPr>
            </a:pPr>
            <a:r>
              <a:rPr sz="3300" b="1">
                <a:solidFill>
                  <a:srgbClr val="152536"/>
                </a:solidFill>
                <a:latin typeface="Helvetica Neue"/>
                <a:ea typeface="Helvetica Neue"/>
                <a:cs typeface="Helvetica Neue"/>
              </a:rPr>
              <a:t>What evidence supports it?</a:t>
            </a:r>
          </a:p>
        </p:txBody>
      </p:sp>
      <p:sp>
        <p:nvSpPr>
          <p:cNvPr id="3" name="">
            <a:extLst xmlns:a="http://schemas.openxmlformats.org/drawingml/2006/main">
              <a:ext uri="{FF2B5EF4-FFF2-40B4-BE49-F238E27FC236}">
                <a16:creationId xmlns:a16="http://schemas.microsoft.com/office/drawing/2014/main" id="{92A09513-CA70-455F-AD08-EAE39B33F34B}"/>
              </a:ext>
            </a:extLst>
          </p:cNvPr>
          <p:cNvSpPr>
            <a:spLocks xmlns:a="http://schemas.openxmlformats.org/drawingml/2006/main" noGrp="1"/>
          </p:cNvSpPr>
          <p:nvPr/>
        </p:nvSpPr>
        <p:spPr>
          <a:xfrm xmlns:a="http://schemas.openxmlformats.org/drawingml/2006/main">
            <a:off x="666750" y="1952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536"/>
                </a:solidFill>
                <a:latin typeface="Helvetica Neue"/>
                <a:ea typeface="Helvetica Neue"/>
                <a:cs typeface="Helvetica Neue"/>
              </a:defRPr>
            </a:pPr>
            <a:r>
              <a:rPr sz="2175" b="0">
                <a:solidFill>
                  <a:srgbClr val="152536"/>
                </a:solidFill>
                <a:latin typeface="Helvetica Neue"/>
                <a:ea typeface="Helvetica Neue"/>
                <a:cs typeface="Helvetica Neue"/>
              </a:rPr>
              <a:t>Show the decisive evidence and the assumption it supports.</a:t>
            </a:r>
          </a:p>
        </p:txBody>
      </p:sp>
      <p:sp>
        <p:nvSpPr>
          <p:cNvPr id="4" name="">
            <a:extLst xmlns:a="http://schemas.openxmlformats.org/drawingml/2006/main">
              <a:ext uri="{FF2B5EF4-FFF2-40B4-BE49-F238E27FC236}">
                <a16:creationId xmlns:a16="http://schemas.microsoft.com/office/drawing/2014/main" id="{1090E92B-06BB-48C8-B454-AA716D7CC6DB}"/>
              </a:ext>
            </a:extLst>
          </p:cNvPr>
          <p:cNvSpPr>
            <a:spLocks xmlns:a="http://schemas.openxmlformats.org/drawingml/2006/main" noGrp="1"/>
          </p:cNvSpPr>
          <p:nvPr/>
        </p:nvSpPr>
        <p:spPr>
          <a:xfrm xmlns:a="http://schemas.openxmlformats.org/drawingml/2006/main">
            <a:off x="666750" y="328612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55773"/>
                </a:solidFill>
                <a:latin typeface="Helvetica Neue"/>
                <a:ea typeface="Helvetica Neue"/>
                <a:cs typeface="Helvetica Neue"/>
              </a:defRPr>
            </a:pPr>
            <a:r>
              <a:rPr sz="2325" b="0">
                <a:solidFill>
                  <a:srgbClr val="355773"/>
                </a:solidFill>
                <a:latin typeface="Helvetica Neue"/>
                <a:ea typeface="Helvetica Neue"/>
                <a:cs typeface="Helvetica Neue"/>
              </a:rPr>
              <a:t>[Replace this space with your company-specific conclusion and evidence.]</a:t>
            </a:r>
          </a:p>
        </p:txBody>
      </p:sp>
      <p:sp>
        <p:nvSpPr>
          <p:cNvPr id="5" name="">
            <a:extLst xmlns:a="http://schemas.openxmlformats.org/drawingml/2006/main">
              <a:ext uri="{FF2B5EF4-FFF2-40B4-BE49-F238E27FC236}">
                <a16:creationId xmlns:a16="http://schemas.microsoft.com/office/drawing/2014/main" id="{C5D8D273-7190-4402-9196-5C76EB9158CD}"/>
              </a:ext>
            </a:extLst>
          </p:cNvPr>
          <p:cNvSpPr>
            <a:spLocks xmlns:a="http://schemas.openxmlformats.org/drawingml/2006/main" noGrp="1"/>
          </p:cNvSpPr>
          <p:nvPr/>
        </p:nvSpPr>
        <p:spPr>
          <a:xfrm xmlns:a="http://schemas.openxmlformats.org/drawingml/2006/main">
            <a:off x="666750" y="48101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536"/>
                </a:solidFill>
                <a:latin typeface="Helvetica Neue"/>
                <a:ea typeface="Helvetica Neue"/>
                <a:cs typeface="Helvetica Neue"/>
              </a:defRPr>
            </a:pPr>
            <a:r>
              <a:rPr sz="1725" b="0">
                <a:solidFill>
                  <a:srgbClr val="152536"/>
                </a:solidFill>
                <a:latin typeface="Helvetica Neue"/>
                <a:ea typeface="Helvetica Neue"/>
                <a:cs typeface="Helvetica Neue"/>
              </a:rPr>
              <a:t>Evidence to include: One peer comparison, one forecast claim, and source IDs.</a:t>
            </a:r>
          </a:p>
        </p:txBody>
      </p:sp>
      <p:sp>
        <p:nvSpPr>
          <p:cNvPr id="6" name="">
            <a:extLst xmlns:a="http://schemas.openxmlformats.org/drawingml/2006/main">
              <a:ext uri="{FF2B5EF4-FFF2-40B4-BE49-F238E27FC236}">
                <a16:creationId xmlns:a16="http://schemas.microsoft.com/office/drawing/2014/main" id="{E1EB3DFD-E723-49AA-88AE-BAED000092B3}"/>
              </a:ext>
            </a:extLst>
          </p:cNvPr>
          <p:cNvSpPr>
            <a:spLocks xmlns:a="http://schemas.openxmlformats.org/drawingml/2006/main" noGrp="1"/>
          </p:cNvSpPr>
          <p:nvPr/>
        </p:nvSpPr>
        <p:spPr>
          <a:xfrm xmlns:a="http://schemas.openxmlformats.org/drawingml/2006/main">
            <a:off x="666750" y="60483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F5965"/>
                </a:solidFill>
                <a:latin typeface="Helvetica Neue"/>
                <a:ea typeface="Helvetica Neue"/>
                <a:cs typeface="Helvetica Neue"/>
              </a:defRPr>
            </a:pPr>
            <a:r>
              <a:rPr sz="1275" b="0">
                <a:solidFill>
                  <a:srgbClr val="4F5965"/>
                </a:solidFill>
                <a:latin typeface="Helvetica Neue"/>
                <a:ea typeface="Helvetica Neue"/>
                <a:cs typeface="Helvetica Neue"/>
              </a:rPr>
              <a:t>Source: [filing/report, period, units, source ID; model version and cell where applicable]</a:t>
            </a:r>
          </a:p>
        </p:txBody>
      </p:sp>
      <p:sp>
        <p:nvSpPr>
          <p:cNvPr id="7" name="">
            <a:extLst xmlns:a="http://schemas.openxmlformats.org/drawingml/2006/main">
              <a:ext uri="{FF2B5EF4-FFF2-40B4-BE49-F238E27FC236}">
                <a16:creationId xmlns:a16="http://schemas.microsoft.com/office/drawing/2014/main" id="{0F228B01-87C5-46D7-8E42-34BA8EA10E20}"/>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F5965"/>
                </a:solidFill>
                <a:latin typeface="Helvetica Neue"/>
                <a:ea typeface="Helvetica Neue"/>
                <a:cs typeface="Helvetica Neue"/>
              </a:defRPr>
            </a:pPr>
            <a:r>
              <a:rPr sz="1350" b="0">
                <a:solidFill>
                  <a:srgbClr val="4F5965"/>
                </a:solidFill>
                <a:latin typeface="Helvetica Neue"/>
                <a:ea typeface="Helvetica Neue"/>
                <a:cs typeface="Helvetica Neue"/>
              </a:rPr>
              <a:t>3</a:t>
            </a:r>
          </a:p>
        </p:txBody>
      </p:sp>
    </p:spTree>
    <p:extLst>
      <p:ext uri="{BB962C8B-B14F-4D97-AF65-F5344CB8AC3E}">
        <p14:creationId xmlns:p14="http://schemas.microsoft.com/office/powerpoint/2010/main" val="2026499730"/>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616B27-75FA-41E7-9044-13140E562574}"/>
              </a:ext>
            </a:extLst>
          </p:cNvPr>
          <p:cNvSpPr>
            <a:spLocks xmlns:a="http://schemas.openxmlformats.org/drawingml/2006/main" noGrp="1"/>
          </p:cNvSpPr>
          <p:nvPr/>
        </p:nvSpPr>
        <p:spPr>
          <a:xfrm xmlns:a="http://schemas.openxmlformats.org/drawingml/2006/main">
            <a:off x="666750" y="3333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13D24"/>
                </a:solidFill>
                <a:latin typeface="Helvetica Neue"/>
                <a:ea typeface="Helvetica Neue"/>
                <a:cs typeface="Helvetica Neue"/>
              </a:defRPr>
            </a:pPr>
            <a:r>
              <a:rPr sz="1500" b="1">
                <a:solidFill>
                  <a:srgbClr val="813D24"/>
                </a:solidFill>
                <a:latin typeface="Helvetica Neue"/>
                <a:ea typeface="Helvetica Neue"/>
                <a:cs typeface="Helvetica Neue"/>
              </a:rPr>
              <a:t>BUS311  •  COMPANY DECISION</a:t>
            </a:r>
          </a:p>
        </p:txBody>
      </p:sp>
      <p:sp>
        <p:nvSpPr>
          <p:cNvPr id="2" name="">
            <a:extLst xmlns:a="http://schemas.openxmlformats.org/drawingml/2006/main">
              <a:ext uri="{FF2B5EF4-FFF2-40B4-BE49-F238E27FC236}">
                <a16:creationId xmlns:a16="http://schemas.microsoft.com/office/drawing/2014/main" id="{9DDB579D-2A3E-41F0-862A-940121E18BA6}"/>
              </a:ext>
            </a:extLst>
          </p:cNvPr>
          <p:cNvSpPr>
            <a:spLocks xmlns:a="http://schemas.openxmlformats.org/drawingml/2006/main" noGrp="1"/>
          </p:cNvSpPr>
          <p:nvPr/>
        </p:nvSpPr>
        <p:spPr>
          <a:xfrm xmlns:a="http://schemas.openxmlformats.org/drawingml/2006/main">
            <a:off x="666750" y="857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536"/>
                </a:solidFill>
                <a:latin typeface="Helvetica Neue"/>
                <a:ea typeface="Helvetica Neue"/>
                <a:cs typeface="Helvetica Neue"/>
              </a:defRPr>
            </a:pPr>
            <a:r>
              <a:rPr sz="3300" b="1">
                <a:solidFill>
                  <a:srgbClr val="152536"/>
                </a:solidFill>
                <a:latin typeface="Helvetica Neue"/>
                <a:ea typeface="Helvetica Neue"/>
                <a:cs typeface="Helvetica Neue"/>
              </a:rPr>
              <a:t>What do the numbers show?</a:t>
            </a:r>
          </a:p>
        </p:txBody>
      </p:sp>
      <p:sp>
        <p:nvSpPr>
          <p:cNvPr id="3" name="">
            <a:extLst xmlns:a="http://schemas.openxmlformats.org/drawingml/2006/main">
              <a:ext uri="{FF2B5EF4-FFF2-40B4-BE49-F238E27FC236}">
                <a16:creationId xmlns:a16="http://schemas.microsoft.com/office/drawing/2014/main" id="{8DB2C700-EF3D-44E2-BF54-79319D1A1041}"/>
              </a:ext>
            </a:extLst>
          </p:cNvPr>
          <p:cNvSpPr>
            <a:spLocks xmlns:a="http://schemas.openxmlformats.org/drawingml/2006/main" noGrp="1"/>
          </p:cNvSpPr>
          <p:nvPr/>
        </p:nvSpPr>
        <p:spPr>
          <a:xfrm xmlns:a="http://schemas.openxmlformats.org/drawingml/2006/main">
            <a:off x="666750" y="1952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536"/>
                </a:solidFill>
                <a:latin typeface="Helvetica Neue"/>
                <a:ea typeface="Helvetica Neue"/>
                <a:cs typeface="Helvetica Neue"/>
              </a:defRPr>
            </a:pPr>
            <a:r>
              <a:rPr sz="2175" b="0">
                <a:solidFill>
                  <a:srgbClr val="152536"/>
                </a:solidFill>
                <a:latin typeface="Helvetica Neue"/>
                <a:ea typeface="Helvetica Neue"/>
                <a:cs typeface="Helvetica Neue"/>
              </a:rPr>
              <a:t>Compare doing nothing with the change in base, upside, and downside cases.</a:t>
            </a:r>
          </a:p>
        </p:txBody>
      </p:sp>
      <p:sp>
        <p:nvSpPr>
          <p:cNvPr id="4" name="">
            <a:extLst xmlns:a="http://schemas.openxmlformats.org/drawingml/2006/main">
              <a:ext uri="{FF2B5EF4-FFF2-40B4-BE49-F238E27FC236}">
                <a16:creationId xmlns:a16="http://schemas.microsoft.com/office/drawing/2014/main" id="{F0D3523A-998D-46EA-8846-2D565E57C4E7}"/>
              </a:ext>
            </a:extLst>
          </p:cNvPr>
          <p:cNvSpPr>
            <a:spLocks xmlns:a="http://schemas.openxmlformats.org/drawingml/2006/main" noGrp="1"/>
          </p:cNvSpPr>
          <p:nvPr/>
        </p:nvSpPr>
        <p:spPr>
          <a:xfrm xmlns:a="http://schemas.openxmlformats.org/drawingml/2006/main">
            <a:off x="666750" y="328612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55773"/>
                </a:solidFill>
                <a:latin typeface="Helvetica Neue"/>
                <a:ea typeface="Helvetica Neue"/>
                <a:cs typeface="Helvetica Neue"/>
              </a:defRPr>
            </a:pPr>
            <a:r>
              <a:rPr sz="2325" b="0">
                <a:solidFill>
                  <a:srgbClr val="355773"/>
                </a:solidFill>
                <a:latin typeface="Helvetica Neue"/>
                <a:ea typeface="Helvetica Neue"/>
                <a:cs typeface="Helvetica Neue"/>
              </a:rPr>
              <a:t>[Replace this space with your company-specific conclusion and evidence.]</a:t>
            </a:r>
          </a:p>
        </p:txBody>
      </p:sp>
      <p:sp>
        <p:nvSpPr>
          <p:cNvPr id="5" name="">
            <a:extLst xmlns:a="http://schemas.openxmlformats.org/drawingml/2006/main">
              <a:ext uri="{FF2B5EF4-FFF2-40B4-BE49-F238E27FC236}">
                <a16:creationId xmlns:a16="http://schemas.microsoft.com/office/drawing/2014/main" id="{E722C6F8-6A86-43B5-A7DB-CA0DC9781474}"/>
              </a:ext>
            </a:extLst>
          </p:cNvPr>
          <p:cNvSpPr>
            <a:spLocks xmlns:a="http://schemas.openxmlformats.org/drawingml/2006/main" noGrp="1"/>
          </p:cNvSpPr>
          <p:nvPr/>
        </p:nvSpPr>
        <p:spPr>
          <a:xfrm xmlns:a="http://schemas.openxmlformats.org/drawingml/2006/main">
            <a:off x="666750" y="48101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536"/>
                </a:solidFill>
                <a:latin typeface="Helvetica Neue"/>
                <a:ea typeface="Helvetica Neue"/>
                <a:cs typeface="Helvetica Neue"/>
              </a:defRPr>
            </a:pPr>
            <a:r>
              <a:rPr sz="1725" b="0">
                <a:solidFill>
                  <a:srgbClr val="152536"/>
                </a:solidFill>
                <a:latin typeface="Helvetica Neue"/>
                <a:ea typeface="Helvetica Neue"/>
                <a:cs typeface="Helvetica Neue"/>
              </a:rPr>
              <a:t>Evidence to include: Three scenario NPVs, one sensitivity, and the model version/cells.</a:t>
            </a:r>
          </a:p>
        </p:txBody>
      </p:sp>
      <p:sp>
        <p:nvSpPr>
          <p:cNvPr id="6" name="">
            <a:extLst xmlns:a="http://schemas.openxmlformats.org/drawingml/2006/main">
              <a:ext uri="{FF2B5EF4-FFF2-40B4-BE49-F238E27FC236}">
                <a16:creationId xmlns:a16="http://schemas.microsoft.com/office/drawing/2014/main" id="{646753D6-4030-41DD-BC85-730A8EF84247}"/>
              </a:ext>
            </a:extLst>
          </p:cNvPr>
          <p:cNvSpPr>
            <a:spLocks xmlns:a="http://schemas.openxmlformats.org/drawingml/2006/main" noGrp="1"/>
          </p:cNvSpPr>
          <p:nvPr/>
        </p:nvSpPr>
        <p:spPr>
          <a:xfrm xmlns:a="http://schemas.openxmlformats.org/drawingml/2006/main">
            <a:off x="666750" y="60483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F5965"/>
                </a:solidFill>
                <a:latin typeface="Helvetica Neue"/>
                <a:ea typeface="Helvetica Neue"/>
                <a:cs typeface="Helvetica Neue"/>
              </a:defRPr>
            </a:pPr>
            <a:r>
              <a:rPr sz="1275" b="0">
                <a:solidFill>
                  <a:srgbClr val="4F5965"/>
                </a:solidFill>
                <a:latin typeface="Helvetica Neue"/>
                <a:ea typeface="Helvetica Neue"/>
                <a:cs typeface="Helvetica Neue"/>
              </a:rPr>
              <a:t>Source: [filing/report, period, units, source ID; model version and cell where applicable]</a:t>
            </a:r>
          </a:p>
        </p:txBody>
      </p:sp>
      <p:sp>
        <p:nvSpPr>
          <p:cNvPr id="7" name="">
            <a:extLst xmlns:a="http://schemas.openxmlformats.org/drawingml/2006/main">
              <a:ext uri="{FF2B5EF4-FFF2-40B4-BE49-F238E27FC236}">
                <a16:creationId xmlns:a16="http://schemas.microsoft.com/office/drawing/2014/main" id="{C4266ED1-66FA-4C30-AE9B-B0AE7F78048C}"/>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F5965"/>
                </a:solidFill>
                <a:latin typeface="Helvetica Neue"/>
                <a:ea typeface="Helvetica Neue"/>
                <a:cs typeface="Helvetica Neue"/>
              </a:defRPr>
            </a:pPr>
            <a:r>
              <a:rPr sz="1350" b="0">
                <a:solidFill>
                  <a:srgbClr val="4F5965"/>
                </a:solidFill>
                <a:latin typeface="Helvetica Neue"/>
                <a:ea typeface="Helvetica Neue"/>
                <a:cs typeface="Helvetica Neue"/>
              </a:rPr>
              <a:t>4</a:t>
            </a:r>
          </a:p>
        </p:txBody>
      </p:sp>
    </p:spTree>
    <p:extLst>
      <p:ext uri="{BB962C8B-B14F-4D97-AF65-F5344CB8AC3E}">
        <p14:creationId xmlns:p14="http://schemas.microsoft.com/office/powerpoint/2010/main" val="476749236"/>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6E0FF6-F7AB-4CD0-A6A9-2C32779AB637}"/>
              </a:ext>
            </a:extLst>
          </p:cNvPr>
          <p:cNvSpPr>
            <a:spLocks xmlns:a="http://schemas.openxmlformats.org/drawingml/2006/main" noGrp="1"/>
          </p:cNvSpPr>
          <p:nvPr/>
        </p:nvSpPr>
        <p:spPr>
          <a:xfrm xmlns:a="http://schemas.openxmlformats.org/drawingml/2006/main">
            <a:off x="666750" y="3333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13D24"/>
                </a:solidFill>
                <a:latin typeface="Helvetica Neue"/>
                <a:ea typeface="Helvetica Neue"/>
                <a:cs typeface="Helvetica Neue"/>
              </a:defRPr>
            </a:pPr>
            <a:r>
              <a:rPr sz="1500" b="1">
                <a:solidFill>
                  <a:srgbClr val="813D24"/>
                </a:solidFill>
                <a:latin typeface="Helvetica Neue"/>
                <a:ea typeface="Helvetica Neue"/>
                <a:cs typeface="Helvetica Neue"/>
              </a:rPr>
              <a:t>BUS311  •  COMPANY DECISION</a:t>
            </a:r>
          </a:p>
        </p:txBody>
      </p:sp>
      <p:sp>
        <p:nvSpPr>
          <p:cNvPr id="2" name="">
            <a:extLst xmlns:a="http://schemas.openxmlformats.org/drawingml/2006/main">
              <a:ext uri="{FF2B5EF4-FFF2-40B4-BE49-F238E27FC236}">
                <a16:creationId xmlns:a16="http://schemas.microsoft.com/office/drawing/2014/main" id="{308960F5-E1CB-465C-84B0-C61F90DAE285}"/>
              </a:ext>
            </a:extLst>
          </p:cNvPr>
          <p:cNvSpPr>
            <a:spLocks xmlns:a="http://schemas.openxmlformats.org/drawingml/2006/main" noGrp="1"/>
          </p:cNvSpPr>
          <p:nvPr/>
        </p:nvSpPr>
        <p:spPr>
          <a:xfrm xmlns:a="http://schemas.openxmlformats.org/drawingml/2006/main">
            <a:off x="666750" y="857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536"/>
                </a:solidFill>
                <a:latin typeface="Helvetica Neue"/>
                <a:ea typeface="Helvetica Neue"/>
                <a:cs typeface="Helvetica Neue"/>
              </a:defRPr>
            </a:pPr>
            <a:r>
              <a:rPr sz="3300" b="1">
                <a:solidFill>
                  <a:srgbClr val="152536"/>
                </a:solidFill>
                <a:latin typeface="Helvetica Neue"/>
                <a:ea typeface="Helvetica Neue"/>
                <a:cs typeface="Helvetica Neue"/>
              </a:rPr>
              <a:t>What could go wrong?</a:t>
            </a:r>
          </a:p>
        </p:txBody>
      </p:sp>
      <p:sp>
        <p:nvSpPr>
          <p:cNvPr id="3" name="">
            <a:extLst xmlns:a="http://schemas.openxmlformats.org/drawingml/2006/main">
              <a:ext uri="{FF2B5EF4-FFF2-40B4-BE49-F238E27FC236}">
                <a16:creationId xmlns:a16="http://schemas.microsoft.com/office/drawing/2014/main" id="{B1679915-B056-4060-B63C-179A11395FE3}"/>
              </a:ext>
            </a:extLst>
          </p:cNvPr>
          <p:cNvSpPr>
            <a:spLocks xmlns:a="http://schemas.openxmlformats.org/drawingml/2006/main" noGrp="1"/>
          </p:cNvSpPr>
          <p:nvPr/>
        </p:nvSpPr>
        <p:spPr>
          <a:xfrm xmlns:a="http://schemas.openxmlformats.org/drawingml/2006/main">
            <a:off x="666750" y="1952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536"/>
                </a:solidFill>
                <a:latin typeface="Helvetica Neue"/>
                <a:ea typeface="Helvetica Neue"/>
                <a:cs typeface="Helvetica Neue"/>
              </a:defRPr>
            </a:pPr>
            <a:r>
              <a:rPr sz="2175" b="0">
                <a:solidFill>
                  <a:srgbClr val="152536"/>
                </a:solidFill>
                <a:latin typeface="Helvetica Neue"/>
                <a:ea typeface="Helvetica Neue"/>
                <a:cs typeface="Helvetica Neue"/>
              </a:rPr>
              <a:t>Explain two risks, the strongest challenge, and what you changed.</a:t>
            </a:r>
          </a:p>
        </p:txBody>
      </p:sp>
      <p:sp>
        <p:nvSpPr>
          <p:cNvPr id="4" name="">
            <a:extLst xmlns:a="http://schemas.openxmlformats.org/drawingml/2006/main">
              <a:ext uri="{FF2B5EF4-FFF2-40B4-BE49-F238E27FC236}">
                <a16:creationId xmlns:a16="http://schemas.microsoft.com/office/drawing/2014/main" id="{690D47C4-05D2-46E1-B7C7-11CA4247FB5C}"/>
              </a:ext>
            </a:extLst>
          </p:cNvPr>
          <p:cNvSpPr>
            <a:spLocks xmlns:a="http://schemas.openxmlformats.org/drawingml/2006/main" noGrp="1"/>
          </p:cNvSpPr>
          <p:nvPr/>
        </p:nvSpPr>
        <p:spPr>
          <a:xfrm xmlns:a="http://schemas.openxmlformats.org/drawingml/2006/main">
            <a:off x="666750" y="328612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55773"/>
                </a:solidFill>
                <a:latin typeface="Helvetica Neue"/>
                <a:ea typeface="Helvetica Neue"/>
                <a:cs typeface="Helvetica Neue"/>
              </a:defRPr>
            </a:pPr>
            <a:r>
              <a:rPr sz="2325" b="0">
                <a:solidFill>
                  <a:srgbClr val="355773"/>
                </a:solidFill>
                <a:latin typeface="Helvetica Neue"/>
                <a:ea typeface="Helvetica Neue"/>
                <a:cs typeface="Helvetica Neue"/>
              </a:rPr>
              <a:t>[Replace this space with your company-specific conclusion and evidence.]</a:t>
            </a:r>
          </a:p>
        </p:txBody>
      </p:sp>
      <p:sp>
        <p:nvSpPr>
          <p:cNvPr id="5" name="">
            <a:extLst xmlns:a="http://schemas.openxmlformats.org/drawingml/2006/main">
              <a:ext uri="{FF2B5EF4-FFF2-40B4-BE49-F238E27FC236}">
                <a16:creationId xmlns:a16="http://schemas.microsoft.com/office/drawing/2014/main" id="{398A98AC-5CC2-4647-9269-F33B31A7BC89}"/>
              </a:ext>
            </a:extLst>
          </p:cNvPr>
          <p:cNvSpPr>
            <a:spLocks xmlns:a="http://schemas.openxmlformats.org/drawingml/2006/main" noGrp="1"/>
          </p:cNvSpPr>
          <p:nvPr/>
        </p:nvSpPr>
        <p:spPr>
          <a:xfrm xmlns:a="http://schemas.openxmlformats.org/drawingml/2006/main">
            <a:off x="666750" y="48101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536"/>
                </a:solidFill>
                <a:latin typeface="Helvetica Neue"/>
                <a:ea typeface="Helvetica Neue"/>
                <a:cs typeface="Helvetica Neue"/>
              </a:defRPr>
            </a:pPr>
            <a:r>
              <a:rPr sz="1725" b="0">
                <a:solidFill>
                  <a:srgbClr val="152536"/>
                </a:solidFill>
                <a:latin typeface="Helvetica Neue"/>
                <a:ea typeface="Helvetica Neue"/>
                <a:cs typeface="Helvetica Neue"/>
              </a:rPr>
              <a:t>Evidence to include: One observable condition that would change your recommendation.</a:t>
            </a:r>
          </a:p>
        </p:txBody>
      </p:sp>
      <p:sp>
        <p:nvSpPr>
          <p:cNvPr id="6" name="">
            <a:extLst xmlns:a="http://schemas.openxmlformats.org/drawingml/2006/main">
              <a:ext uri="{FF2B5EF4-FFF2-40B4-BE49-F238E27FC236}">
                <a16:creationId xmlns:a16="http://schemas.microsoft.com/office/drawing/2014/main" id="{C1E4E487-F789-4C07-B595-30ADE041A19C}"/>
              </a:ext>
            </a:extLst>
          </p:cNvPr>
          <p:cNvSpPr>
            <a:spLocks xmlns:a="http://schemas.openxmlformats.org/drawingml/2006/main" noGrp="1"/>
          </p:cNvSpPr>
          <p:nvPr/>
        </p:nvSpPr>
        <p:spPr>
          <a:xfrm xmlns:a="http://schemas.openxmlformats.org/drawingml/2006/main">
            <a:off x="666750" y="60483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F5965"/>
                </a:solidFill>
                <a:latin typeface="Helvetica Neue"/>
                <a:ea typeface="Helvetica Neue"/>
                <a:cs typeface="Helvetica Neue"/>
              </a:defRPr>
            </a:pPr>
            <a:r>
              <a:rPr sz="1275" b="0">
                <a:solidFill>
                  <a:srgbClr val="4F5965"/>
                </a:solidFill>
                <a:latin typeface="Helvetica Neue"/>
                <a:ea typeface="Helvetica Neue"/>
                <a:cs typeface="Helvetica Neue"/>
              </a:rPr>
              <a:t>Source: [filing/report, period, units, source ID; model version and cell where applicable]</a:t>
            </a:r>
          </a:p>
        </p:txBody>
      </p:sp>
      <p:sp>
        <p:nvSpPr>
          <p:cNvPr id="7" name="">
            <a:extLst xmlns:a="http://schemas.openxmlformats.org/drawingml/2006/main">
              <a:ext uri="{FF2B5EF4-FFF2-40B4-BE49-F238E27FC236}">
                <a16:creationId xmlns:a16="http://schemas.microsoft.com/office/drawing/2014/main" id="{AE8C1A36-0EC6-43FE-9E60-D4CF27B7190D}"/>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F5965"/>
                </a:solidFill>
                <a:latin typeface="Helvetica Neue"/>
                <a:ea typeface="Helvetica Neue"/>
                <a:cs typeface="Helvetica Neue"/>
              </a:defRPr>
            </a:pPr>
            <a:r>
              <a:rPr sz="1350" b="0">
                <a:solidFill>
                  <a:srgbClr val="4F5965"/>
                </a:solidFill>
                <a:latin typeface="Helvetica Neue"/>
                <a:ea typeface="Helvetica Neue"/>
                <a:cs typeface="Helvetica Neue"/>
              </a:rPr>
              <a:t>5</a:t>
            </a:r>
          </a:p>
        </p:txBody>
      </p:sp>
    </p:spTree>
    <p:extLst>
      <p:ext uri="{BB962C8B-B14F-4D97-AF65-F5344CB8AC3E}">
        <p14:creationId xmlns:p14="http://schemas.microsoft.com/office/powerpoint/2010/main" val="1937819949"/>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A0DD7E-C16D-444B-8D48-C32636AABAA9}"/>
              </a:ext>
            </a:extLst>
          </p:cNvPr>
          <p:cNvSpPr>
            <a:spLocks xmlns:a="http://schemas.openxmlformats.org/drawingml/2006/main" noGrp="1"/>
          </p:cNvSpPr>
          <p:nvPr/>
        </p:nvSpPr>
        <p:spPr>
          <a:xfrm xmlns:a="http://schemas.openxmlformats.org/drawingml/2006/main">
            <a:off x="666750" y="3333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13D24"/>
                </a:solidFill>
                <a:latin typeface="Helvetica Neue"/>
                <a:ea typeface="Helvetica Neue"/>
                <a:cs typeface="Helvetica Neue"/>
              </a:defRPr>
            </a:pPr>
            <a:r>
              <a:rPr sz="1500" b="1">
                <a:solidFill>
                  <a:srgbClr val="813D24"/>
                </a:solidFill>
                <a:latin typeface="Helvetica Neue"/>
                <a:ea typeface="Helvetica Neue"/>
                <a:cs typeface="Helvetica Neue"/>
              </a:rPr>
              <a:t>BUS311  •  COMPANY DECISION</a:t>
            </a:r>
          </a:p>
        </p:txBody>
      </p:sp>
      <p:sp>
        <p:nvSpPr>
          <p:cNvPr id="2" name="">
            <a:extLst xmlns:a="http://schemas.openxmlformats.org/drawingml/2006/main">
              <a:ext uri="{FF2B5EF4-FFF2-40B4-BE49-F238E27FC236}">
                <a16:creationId xmlns:a16="http://schemas.microsoft.com/office/drawing/2014/main" id="{709C13E5-5E59-424F-85FE-2E6218BF59E7}"/>
              </a:ext>
            </a:extLst>
          </p:cNvPr>
          <p:cNvSpPr>
            <a:spLocks xmlns:a="http://schemas.openxmlformats.org/drawingml/2006/main" noGrp="1"/>
          </p:cNvSpPr>
          <p:nvPr/>
        </p:nvSpPr>
        <p:spPr>
          <a:xfrm xmlns:a="http://schemas.openxmlformats.org/drawingml/2006/main">
            <a:off x="666750" y="857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536"/>
                </a:solidFill>
                <a:latin typeface="Helvetica Neue"/>
                <a:ea typeface="Helvetica Neue"/>
                <a:cs typeface="Helvetica Neue"/>
              </a:defRPr>
            </a:pPr>
            <a:r>
              <a:rPr sz="3300" b="1">
                <a:solidFill>
                  <a:srgbClr val="152536"/>
                </a:solidFill>
                <a:latin typeface="Helvetica Neue"/>
                <a:ea typeface="Helvetica Neue"/>
                <a:cs typeface="Helvetica Neue"/>
              </a:rPr>
              <a:t>What happens next?</a:t>
            </a:r>
          </a:p>
        </p:txBody>
      </p:sp>
      <p:sp>
        <p:nvSpPr>
          <p:cNvPr id="3" name="">
            <a:extLst xmlns:a="http://schemas.openxmlformats.org/drawingml/2006/main">
              <a:ext uri="{FF2B5EF4-FFF2-40B4-BE49-F238E27FC236}">
                <a16:creationId xmlns:a16="http://schemas.microsoft.com/office/drawing/2014/main" id="{92B93E58-76AA-4D4D-B457-44DE1D3ECE84}"/>
              </a:ext>
            </a:extLst>
          </p:cNvPr>
          <p:cNvSpPr>
            <a:spLocks xmlns:a="http://schemas.openxmlformats.org/drawingml/2006/main" noGrp="1"/>
          </p:cNvSpPr>
          <p:nvPr/>
        </p:nvSpPr>
        <p:spPr>
          <a:xfrm xmlns:a="http://schemas.openxmlformats.org/drawingml/2006/main">
            <a:off x="666750" y="1952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536"/>
                </a:solidFill>
                <a:latin typeface="Helvetica Neue"/>
                <a:ea typeface="Helvetica Neue"/>
                <a:cs typeface="Helvetica Neue"/>
              </a:defRPr>
            </a:pPr>
            <a:r>
              <a:rPr sz="2175" b="0">
                <a:solidFill>
                  <a:srgbClr val="152536"/>
                </a:solidFill>
                <a:latin typeface="Helvetica Neue"/>
                <a:ea typeface="Helvetica Neue"/>
                <a:cs typeface="Helvetica Neue"/>
              </a:rPr>
              <a:t>Name the first action, responsible role, timing, and one measure to monitor.</a:t>
            </a:r>
          </a:p>
        </p:txBody>
      </p:sp>
      <p:sp>
        <p:nvSpPr>
          <p:cNvPr id="4" name="">
            <a:extLst xmlns:a="http://schemas.openxmlformats.org/drawingml/2006/main">
              <a:ext uri="{FF2B5EF4-FFF2-40B4-BE49-F238E27FC236}">
                <a16:creationId xmlns:a16="http://schemas.microsoft.com/office/drawing/2014/main" id="{06B3EF35-E6E5-4F3A-863A-3F8C923EC256}"/>
              </a:ext>
            </a:extLst>
          </p:cNvPr>
          <p:cNvSpPr>
            <a:spLocks xmlns:a="http://schemas.openxmlformats.org/drawingml/2006/main" noGrp="1"/>
          </p:cNvSpPr>
          <p:nvPr/>
        </p:nvSpPr>
        <p:spPr>
          <a:xfrm xmlns:a="http://schemas.openxmlformats.org/drawingml/2006/main">
            <a:off x="666750" y="328612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355773"/>
                </a:solidFill>
                <a:latin typeface="Helvetica Neue"/>
                <a:ea typeface="Helvetica Neue"/>
                <a:cs typeface="Helvetica Neue"/>
              </a:defRPr>
            </a:pPr>
            <a:r>
              <a:rPr sz="2325" b="0">
                <a:solidFill>
                  <a:srgbClr val="355773"/>
                </a:solidFill>
                <a:latin typeface="Helvetica Neue"/>
                <a:ea typeface="Helvetica Neue"/>
                <a:cs typeface="Helvetica Neue"/>
              </a:rPr>
              <a:t>[Replace this space with your company-specific conclusion and evidence.]</a:t>
            </a:r>
          </a:p>
        </p:txBody>
      </p:sp>
      <p:sp>
        <p:nvSpPr>
          <p:cNvPr id="5" name="">
            <a:extLst xmlns:a="http://schemas.openxmlformats.org/drawingml/2006/main">
              <a:ext uri="{FF2B5EF4-FFF2-40B4-BE49-F238E27FC236}">
                <a16:creationId xmlns:a16="http://schemas.microsoft.com/office/drawing/2014/main" id="{5BB64194-B685-4FD2-90FB-4D701705FDEA}"/>
              </a:ext>
            </a:extLst>
          </p:cNvPr>
          <p:cNvSpPr>
            <a:spLocks xmlns:a="http://schemas.openxmlformats.org/drawingml/2006/main" noGrp="1"/>
          </p:cNvSpPr>
          <p:nvPr/>
        </p:nvSpPr>
        <p:spPr>
          <a:xfrm xmlns:a="http://schemas.openxmlformats.org/drawingml/2006/main">
            <a:off x="666750" y="48101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52536"/>
                </a:solidFill>
                <a:latin typeface="Helvetica Neue"/>
                <a:ea typeface="Helvetica Neue"/>
                <a:cs typeface="Helvetica Neue"/>
              </a:defRPr>
            </a:pPr>
            <a:r>
              <a:rPr sz="1725" b="0">
                <a:solidFill>
                  <a:srgbClr val="152536"/>
                </a:solidFill>
                <a:latin typeface="Helvetica Neue"/>
                <a:ea typeface="Helvetica Neue"/>
                <a:cs typeface="Helvetica Neue"/>
              </a:rPr>
              <a:t>Evidence to include: A practical next step and a stop, review, or expand trigger.</a:t>
            </a:r>
          </a:p>
        </p:txBody>
      </p:sp>
      <p:sp>
        <p:nvSpPr>
          <p:cNvPr id="6" name="">
            <a:extLst xmlns:a="http://schemas.openxmlformats.org/drawingml/2006/main">
              <a:ext uri="{FF2B5EF4-FFF2-40B4-BE49-F238E27FC236}">
                <a16:creationId xmlns:a16="http://schemas.microsoft.com/office/drawing/2014/main" id="{F86A3048-C5DE-4C00-927E-DC5171A1E88F}"/>
              </a:ext>
            </a:extLst>
          </p:cNvPr>
          <p:cNvSpPr>
            <a:spLocks xmlns:a="http://schemas.openxmlformats.org/drawingml/2006/main" noGrp="1"/>
          </p:cNvSpPr>
          <p:nvPr/>
        </p:nvSpPr>
        <p:spPr>
          <a:xfrm xmlns:a="http://schemas.openxmlformats.org/drawingml/2006/main">
            <a:off x="666750" y="60483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F5965"/>
                </a:solidFill>
                <a:latin typeface="Helvetica Neue"/>
                <a:ea typeface="Helvetica Neue"/>
                <a:cs typeface="Helvetica Neue"/>
              </a:defRPr>
            </a:pPr>
            <a:r>
              <a:rPr sz="1275" b="0">
                <a:solidFill>
                  <a:srgbClr val="4F5965"/>
                </a:solidFill>
                <a:latin typeface="Helvetica Neue"/>
                <a:ea typeface="Helvetica Neue"/>
                <a:cs typeface="Helvetica Neue"/>
              </a:rPr>
              <a:t>Source: [filing/report, period, units, source ID; model version and cell where applicable]</a:t>
            </a:r>
          </a:p>
        </p:txBody>
      </p:sp>
      <p:sp>
        <p:nvSpPr>
          <p:cNvPr id="7" name="">
            <a:extLst xmlns:a="http://schemas.openxmlformats.org/drawingml/2006/main">
              <a:ext uri="{FF2B5EF4-FFF2-40B4-BE49-F238E27FC236}">
                <a16:creationId xmlns:a16="http://schemas.microsoft.com/office/drawing/2014/main" id="{5C4BD28C-8BD9-4E02-9ADF-E647F6262B92}"/>
              </a:ext>
            </a:extLst>
          </p:cNvPr>
          <p:cNvSpPr>
            <a:spLocks xmlns:a="http://schemas.openxmlformats.org/drawingml/2006/main" noGrp="1"/>
          </p:cNvSpPr>
          <p:nvPr/>
        </p:nvSpPr>
        <p:spPr>
          <a:xfrm xmlns:a="http://schemas.openxmlformats.org/drawingml/2006/main">
            <a:off x="11144250" y="62388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F5965"/>
                </a:solidFill>
                <a:latin typeface="Helvetica Neue"/>
                <a:ea typeface="Helvetica Neue"/>
                <a:cs typeface="Helvetica Neue"/>
              </a:defRPr>
            </a:pPr>
            <a:r>
              <a:rPr sz="1350" b="0">
                <a:solidFill>
                  <a:srgbClr val="4F5965"/>
                </a:solidFill>
                <a:latin typeface="Helvetica Neue"/>
                <a:ea typeface="Helvetica Neue"/>
                <a:cs typeface="Helvetica Neue"/>
              </a:rPr>
              <a:t>6</a:t>
            </a:r>
          </a:p>
        </p:txBody>
      </p:sp>
    </p:spTree>
    <p:extLst>
      <p:ext uri="{BB962C8B-B14F-4D97-AF65-F5344CB8AC3E}">
        <p14:creationId xmlns:p14="http://schemas.microsoft.com/office/powerpoint/2010/main" val="15985347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2026-09-06T08:26:21.8530000Z</dcterms:created>
  <dcterms:modified xsi:type="dcterms:W3CDTF">2026-09-06T08:26:21.8530000Z</dcterms:modified>
</coreProperties>
</file>