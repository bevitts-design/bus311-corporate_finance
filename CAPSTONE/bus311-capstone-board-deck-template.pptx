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14eccdf40b4f0b" /><Relationship Type="http://schemas.openxmlformats.org/officeDocument/2006/relationships/extended-properties" Target="/docProps/app.xml" Id="R14fc7790019940a6" /><Relationship Type="http://schemas.openxmlformats.org/officeDocument/2006/relationships/officeDocument" Target="/ppt/presentation.xml" Id="R54daf4c087b749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07065c212340a0"/>
  </p:sldMasterIdLst>
  <p:notesMasterIdLst>
    <p:notesMasterId xmlns:r="http://schemas.openxmlformats.org/officeDocument/2006/relationships" r:id="Rcf23d7afab5c41ef"/>
  </p:notesMasterIdLst>
  <p:sldIdLst>
    <p:sldId xmlns:r="http://schemas.openxmlformats.org/officeDocument/2006/relationships" id="256" r:id="R25cccd7453a940c2"/>
    <p:sldId xmlns:r="http://schemas.openxmlformats.org/officeDocument/2006/relationships" id="257" r:id="R6177eaa665cf4179"/>
    <p:sldId xmlns:r="http://schemas.openxmlformats.org/officeDocument/2006/relationships" id="258" r:id="R810207d1428d46a4"/>
    <p:sldId xmlns:r="http://schemas.openxmlformats.org/officeDocument/2006/relationships" id="259" r:id="Rb6d2652dae814dff"/>
    <p:sldId xmlns:r="http://schemas.openxmlformats.org/officeDocument/2006/relationships" id="260" r:id="Rce577b834a5f4955"/>
    <p:sldId xmlns:r="http://schemas.openxmlformats.org/officeDocument/2006/relationships" id="261" r:id="R6abad8d30c7844e2"/>
    <p:sldId xmlns:r="http://schemas.openxmlformats.org/officeDocument/2006/relationships" id="262" r:id="Rb236459a2c704567"/>
    <p:sldId xmlns:r="http://schemas.openxmlformats.org/officeDocument/2006/relationships" id="263" r:id="R3756a983e11c4b50"/>
    <p:sldId xmlns:r="http://schemas.openxmlformats.org/officeDocument/2006/relationships" id="264" r:id="Ra9bc332e4bad4930"/>
    <p:sldId xmlns:r="http://schemas.openxmlformats.org/officeDocument/2006/relationships" id="265" r:id="Rfc58937f20014d48"/>
    <p:sldId xmlns:r="http://schemas.openxmlformats.org/officeDocument/2006/relationships" id="266" r:id="Rc811acb1e3354d82"/>
    <p:sldId xmlns:r="http://schemas.openxmlformats.org/officeDocument/2006/relationships" id="267" r:id="R821948e3754c479e"/>
    <p:sldId xmlns:r="http://schemas.openxmlformats.org/officeDocument/2006/relationships" id="268" r:id="R073a4cc897e547fe"/>
    <p:sldId xmlns:r="http://schemas.openxmlformats.org/officeDocument/2006/relationships" id="269" r:id="R26d24a82a02440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bf78225051416c" /><Relationship Type="http://schemas.openxmlformats.org/officeDocument/2006/relationships/slideMaster" Target="/ppt/slideMasters/slideMaster1.xml" Id="Ra907065c212340a0" /><Relationship Type="http://schemas.openxmlformats.org/officeDocument/2006/relationships/notesMaster" Target="/ppt/notesMasters/notesMaster1.xml" Id="Rcf23d7afab5c41ef" /><Relationship Type="http://schemas.openxmlformats.org/officeDocument/2006/relationships/presProps" Target="/ppt/presProps.xml" Id="R00eedb5ae8324769" /><Relationship Type="http://schemas.openxmlformats.org/officeDocument/2006/relationships/tableStyles" Target="/ppt/tableStyles.xml" Id="Read95938570b403c" /><Relationship Type="http://schemas.openxmlformats.org/officeDocument/2006/relationships/slide" Target="/ppt/slides/slide1.xml" Id="R25cccd7453a940c2" /><Relationship Type="http://schemas.openxmlformats.org/officeDocument/2006/relationships/slide" Target="/ppt/slides/slide2.xml" Id="R6177eaa665cf4179" /><Relationship Type="http://schemas.openxmlformats.org/officeDocument/2006/relationships/slide" Target="/ppt/slides/slide3.xml" Id="R810207d1428d46a4" /><Relationship Type="http://schemas.openxmlformats.org/officeDocument/2006/relationships/slide" Target="/ppt/slides/slide4.xml" Id="Rb6d2652dae814dff" /><Relationship Type="http://schemas.openxmlformats.org/officeDocument/2006/relationships/slide" Target="/ppt/slides/slide5.xml" Id="Rce577b834a5f4955" /><Relationship Type="http://schemas.openxmlformats.org/officeDocument/2006/relationships/slide" Target="/ppt/slides/slide6.xml" Id="R6abad8d30c7844e2" /><Relationship Type="http://schemas.openxmlformats.org/officeDocument/2006/relationships/slide" Target="/ppt/slides/slide7.xml" Id="Rb236459a2c704567" /><Relationship Type="http://schemas.openxmlformats.org/officeDocument/2006/relationships/slide" Target="/ppt/slides/slide8.xml" Id="R3756a983e11c4b50" /><Relationship Type="http://schemas.openxmlformats.org/officeDocument/2006/relationships/slide" Target="/ppt/slides/slide9.xml" Id="Ra9bc332e4bad4930" /><Relationship Type="http://schemas.openxmlformats.org/officeDocument/2006/relationships/slide" Target="/ppt/slides/slide10.xml" Id="Rfc58937f20014d48" /><Relationship Type="http://schemas.openxmlformats.org/officeDocument/2006/relationships/slide" Target="/ppt/slides/slide11.xml" Id="Rc811acb1e3354d82" /><Relationship Type="http://schemas.openxmlformats.org/officeDocument/2006/relationships/slide" Target="/ppt/slides/slide12.xml" Id="R821948e3754c479e" /><Relationship Type="http://schemas.openxmlformats.org/officeDocument/2006/relationships/slide" Target="/ppt/slides/slide13.xml" Id="R073a4cc897e547fe" /><Relationship Type="http://schemas.openxmlformats.org/officeDocument/2006/relationships/slide" Target="/ppt/slides/slide14.xml" Id="R26d24a82a02440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022c86b54040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2a981dfbd84695" /><Relationship Type="http://schemas.openxmlformats.org/officeDocument/2006/relationships/notesMaster" Target="/ppt/notesMasters/notesMaster1.xml" Id="Rf1ee979df1e54a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1751cede984f5b" /><Relationship Type="http://schemas.openxmlformats.org/officeDocument/2006/relationships/notesMaster" Target="/ppt/notesMasters/notesMaster1.xml" Id="R8354aa74723947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39155823ae4ec8" /><Relationship Type="http://schemas.openxmlformats.org/officeDocument/2006/relationships/notesMaster" Target="/ppt/notesMasters/notesMaster1.xml" Id="R268daad0bc9643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551fb6dd9e4e07" /><Relationship Type="http://schemas.openxmlformats.org/officeDocument/2006/relationships/notesMaster" Target="/ppt/notesMasters/notesMaster1.xml" Id="Rcd3f194ed9c346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ea428e608c4c37" /><Relationship Type="http://schemas.openxmlformats.org/officeDocument/2006/relationships/notesMaster" Target="/ppt/notesMasters/notesMaster1.xml" Id="Rf2e55734ee564f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7fd878ba684757" /><Relationship Type="http://schemas.openxmlformats.org/officeDocument/2006/relationships/notesMaster" Target="/ppt/notesMasters/notesMaster1.xml" Id="Rf1ee94d47bdd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d19943148646cc" /><Relationship Type="http://schemas.openxmlformats.org/officeDocument/2006/relationships/notesMaster" Target="/ppt/notesMasters/notesMaster1.xml" Id="R12b9abeb62e54b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3fd9e4fdc04e33" /><Relationship Type="http://schemas.openxmlformats.org/officeDocument/2006/relationships/notesMaster" Target="/ppt/notesMasters/notesMaster1.xml" Id="Ra3466b51af5d49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fa1e563ec843a6" /><Relationship Type="http://schemas.openxmlformats.org/officeDocument/2006/relationships/notesMaster" Target="/ppt/notesMasters/notesMaster1.xml" Id="Raf454c4781fb47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e6db0c5ac84846" /><Relationship Type="http://schemas.openxmlformats.org/officeDocument/2006/relationships/notesMaster" Target="/ppt/notesMasters/notesMaster1.xml" Id="R01b048f5e87947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749355b65749f8" /><Relationship Type="http://schemas.openxmlformats.org/officeDocument/2006/relationships/notesMaster" Target="/ppt/notesMasters/notesMaster1.xml" Id="Rfbddf8dd46a14c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ce6cd7e64040aa" /><Relationship Type="http://schemas.openxmlformats.org/officeDocument/2006/relationships/notesMaster" Target="/ppt/notesMasters/notesMaster1.xml" Id="R983f61a2277a4f2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600a1d83f645d8" /><Relationship Type="http://schemas.openxmlformats.org/officeDocument/2006/relationships/notesMaster" Target="/ppt/notesMasters/notesMaster1.xml" Id="Re7b7566ba7b249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c0585601b9c4a73" /><Relationship Type="http://schemas.openxmlformats.org/officeDocument/2006/relationships/notesMaster" Target="/ppt/notesMasters/notesMaster1.xml" Id="Rbdab9bb353484f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0:35</a:t>
            </a:r>
          </a:p>
          <a:p xmlns:a="http://schemas.openxmlformats.org/drawingml/2006/main">
            <a:r>
              <a:t>NARRATIVE JOB: Open with the decision and recommendation so the Board knows the ask before the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every bracketed field; do not add a separate title-only slide unless you remain within 8–10 core slides.</a:t>
            </a:r>
          </a:p>
          <a:p xmlns:a="http://schemas.openxmlformats.org/drawingml/2006/main">
            <a:r>
              <a:t>- Make the recommendation company-specific and implementable; avoid Buy/Hold/Sell as the governing thesis.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Replace source placeholders with the student's maintained evidence-register IDs.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0:45</a:t>
            </a:r>
          </a:p>
          <a:p xmlns:a="http://schemas.openxmlformats.org/drawingml/2006/main">
            <a:r>
              <a:t>NARRATIVE JOB: Explain the business model as a finance mechanism, not as company background.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company-specific segments, customers, channels, pricing, recurrence, and management levers.</a:t>
            </a:r>
          </a:p>
          <a:p xmlns:a="http://schemas.openxmlformats.org/drawingml/2006/main">
            <a:r>
              <a:t>- If a dimension is not disclosed, state the limitation rather than inventing precision.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SEC evidence should identify form, filing date, fiscal period, and exact item/page/table.</a:t>
            </a:r>
          </a:p>
          <a:p xmlns:a="http://schemas.openxmlformats.org/drawingml/2006/main">
            <a:r>
              <a:t>- FactSet evidence should identify screen/report/metric, data-through date, units, definition, and peer group when applicable.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Establish a three-to-five-year operating baseline and explain the driver decomposition.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all example chart data; never submit the normalized placeholder series as company evidence.</a:t>
            </a:r>
          </a:p>
          <a:p xmlns:a="http://schemas.openxmlformats.org/drawingml/2006/main">
            <a:r>
              <a:t>- Prefer an editable Excel-linked/native chart. If using a permitted FactSet chart, make its metric, date, definition, and peer group traceable.</a:t>
            </a:r>
          </a:p>
          <a:p xmlns:a="http://schemas.openxmlformats.org/drawingml/2006/main">
            <a:r>
              <a:t>- Distinguish quantified drivers from directional drivers and disclosed limitations.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Do not use AI-generated chart images as financial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Show how independent verification changed—or justified retaining—the student's operating hypothesis.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Name the strongest challenge, evidence checked, finding, accept/modify/reject judgment, and revised hypothesis.</a:t>
            </a:r>
          </a:p>
          <a:p xmlns:a="http://schemas.openxmlformats.org/drawingml/2006/main">
            <a:r>
              <a:t>- Do not paste AI prose or cite AI as financial evidence.</a:t>
            </a:r>
          </a:p>
          <a:p xmlns:a="http://schemas.openxmlformats.org/drawingml/2006/main">
            <a:r>
              <a:t>- Do not upload workbooks, raw FactSet exports/screenshots, personal information, instructor-only material, or nonpublic information to public AI.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Use the BUS311 C-A-P-A-J record for the revenue-hypothesis checkpoint.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Translate the final hypothesis into base, upside, and downside forecast assumptions.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all example chart data and define the scenario trigger for each path.</a:t>
            </a:r>
          </a:p>
          <a:p xmlns:a="http://schemas.openxmlformats.org/drawingml/2006/main">
            <a:r>
              <a:t>- Tie each material forecast assumption to SEC, FactSet, Excel, or another credible source and record its limitation.</a:t>
            </a:r>
          </a:p>
          <a:p xmlns:a="http://schemas.openxmlformats.org/drawingml/2006/main">
            <a:r>
              <a:t>- Use the same scenario labels and assumptions in the model, core deck, appendix, and executive summary.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Model outputs are evidence only after inputs, calculations, checks, and source reconciliations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Use valuation to quantify consequences and decision boundaries, not to replace operating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all example chart data and show the model method appropriate to the approved company decision.</a:t>
            </a:r>
          </a:p>
          <a:p xmlns:a="http://schemas.openxmlformats.org/drawingml/2006/main">
            <a:r>
              <a:t>- Confirm correct tax, NOPAT, depreciation, capital expenditure, net working capital, discount-rate, terminal-value, and enterprise-to-equity logic when applicable.</a:t>
            </a:r>
          </a:p>
          <a:p xmlns:a="http://schemas.openxmlformats.org/drawingml/2006/main">
            <a:r>
              <a:t>- State model limitations and sensitivity; do not imply precision the evidence cannot support.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Appendix slides must expose key assumptions, checks, scenarios, and sensitivities for Q&amp;A.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0:45</a:t>
            </a:r>
          </a:p>
          <a:p xmlns:a="http://schemas.openxmlformats.org/drawingml/2006/main">
            <a:r>
              <a:t>NARRATIVE JOB: Specify the action, scale, timing, owners, and decision rule supported by the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two or three supporting actions only; each must connect to a revenue driver, model output, implementation need, or mitigation.</a:t>
            </a:r>
          </a:p>
          <a:p xmlns:a="http://schemas.openxmlformats.org/drawingml/2006/main">
            <a:r>
              <a:t>- State tradeoffs explicitly instead of presenting a costless recommendation.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Every quantified benefit, cost, or threshold requires a traceable source or model calculation.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0:40</a:t>
            </a:r>
          </a:p>
          <a:p xmlns:a="http://schemas.openxmlformats.org/drawingml/2006/main">
            <a:r>
              <a:t>NARRATIVE JOB: Show who does what, by when, with measurable triggers and a review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realistic sequencing and identify responsible functions rather than unnamed 'management.'</a:t>
            </a:r>
          </a:p>
          <a:p xmlns:a="http://schemas.openxmlformats.org/drawingml/2006/main">
            <a:r>
              <a:t>- Include at least one performance indicator, early-warning trigger, and governance checkpoint.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Proposed implementation dates are student recommendations; distinguish them from company-disclosed commitments.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0:35</a:t>
            </a:r>
          </a:p>
          <a:p xmlns:a="http://schemas.openxmlformats.org/drawingml/2006/main">
            <a:r>
              <a:t>NARRATIVE JOB: Frame risks as monitored decision conditions, not as a generic 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Prioritize risks using words as well as color; define observable triggers and owners.</a:t>
            </a:r>
          </a:p>
          <a:p xmlns:a="http://schemas.openxmlformats.org/drawingml/2006/main">
            <a:r>
              <a:t>- Connect at least one risk to the downside scenario and one to the implementation plan.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Use company risk factors as evidence, but translate them into decision-specific exposure and mitigation.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0:20</a:t>
            </a:r>
          </a:p>
          <a:p xmlns:a="http://schemas.openxmlformats.org/drawingml/2006/main">
            <a:r>
              <a:t>NARRATIVE JOB: Close with the resolution, guardrail, and immediate next step—then stop.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Do not add a generic thank-you slide; end on the decision the Board should make.</a:t>
            </a:r>
          </a:p>
          <a:p xmlns:a="http://schemas.openxmlformats.org/drawingml/2006/main">
            <a:r>
              <a:t>- Move to appendix slides only in response to Q&amp;A.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Use the same recommendation language as the executive summary and earlier core slides.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Q&amp;A ONLY</a:t>
            </a:r>
          </a:p>
          <a:p xmlns:a="http://schemas.openxmlformats.org/drawingml/2006/main">
            <a:r>
              <a:t>NARRATIVE JOB: Defend revenue definitions, periods, drivers, comparability, and limitations.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three to five years when available and label consistent periods, currency, and units.</a:t>
            </a:r>
          </a:p>
          <a:p xmlns:a="http://schemas.openxmlformats.org/drawingml/2006/main">
            <a:r>
              <a:t>- If fewer than three defensible peers exist, explain why rather than padding the group.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FactSet course-use evidence remains licensed; do not publish exports or upload raw exports/screenshots to public AI.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Q&amp;A ONLY</a:t>
            </a:r>
          </a:p>
          <a:p xmlns:a="http://schemas.openxmlformats.org/drawingml/2006/main">
            <a:r>
              <a:t>NARRATIVE JOB: Expose the model logic and the checks that make the output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Show formulas or clear definitions for material inputs and calculations.</a:t>
            </a:r>
          </a:p>
          <a:p xmlns:a="http://schemas.openxmlformats.org/drawingml/2006/main">
            <a:r>
              <a:t>- No unexplained hardcoded result, unresolved formula error, or scenario disconnected from the revenue hypothesis.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Use the current instructor-approved model method and retain the working Excel artifact separately.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Q&amp;A ONLY</a:t>
            </a:r>
          </a:p>
          <a:p xmlns:a="http://schemas.openxmlformats.org/drawingml/2006/main">
            <a:r>
              <a:t>NARRATIVE JOB: Demonstrate which assumptions matter most and where the recommendation flips.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an editable PowerPoint table or chart linked conceptually to the Excel model; do not paste a screenshot as the only evidence.</a:t>
            </a:r>
          </a:p>
          <a:p xmlns:a="http://schemas.openxmlformats.org/drawingml/2006/main">
            <a:r>
              <a:t>- Label both sensitivity variables, units, base case, and decision boundary.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Explain why the tested range is evidence-based or clearly identified as a scenario assumption.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Q&amp;A ONLY</a:t>
            </a:r>
          </a:p>
          <a:p xmlns:a="http://schemas.openxmlformats.org/drawingml/2006/main">
            <a:r>
              <a:t>NARRATIVE JOB: Provide the traceability and AI judgment trail behind the Board briefing.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Q&amp;A.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Keep source labels legible; the appendix may expand details but cannot rescue an unsourced core claim.</a:t>
            </a:r>
          </a:p>
          <a:p xmlns:a="http://schemas.openxmlformats.org/drawingml/2006/main">
            <a:r>
              <a:t>- FactSet materials may be used in the course presentation but must remain within permitted course use and must not be publicly posted.</a:t>
            </a:r>
          </a:p>
          <a:p xmlns:a="http://schemas.openxmlformats.org/drawingml/2006/main">
            <a:r>
              <a:t>- Retain final C-A-P-A-J records in the required milestone artifact; summarize rather than reproducing raw AI output.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instructor-review draft, July 28, 2026.</a:t>
            </a:r>
          </a:p>
          <a:p xmlns:a="http://schemas.openxmlformats.org/drawingml/2006/main">
            <a:r>
              <a:t>- The assignment brief requires one maintained evidence register across the semester.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5625189dc42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c8e2ffbb7945a1" /><Relationship Type="http://schemas.openxmlformats.org/officeDocument/2006/relationships/slideLayout" Target="/ppt/slideLayouts/slideLayout1.xml" Id="R3586b4a3fe9143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86b4a3fe9143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9b653a8804229" /><Relationship Type="http://schemas.openxmlformats.org/officeDocument/2006/relationships/notesSlide" Target="/ppt/notesSlides/notesSlide1.xml" Id="R63470cec985d43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1051bdc7a4b42" /><Relationship Type="http://schemas.openxmlformats.org/officeDocument/2006/relationships/notesSlide" Target="/ppt/notesSlides/notesSlide2.xml" Id="R239465f24d594e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97075d4084904" /><Relationship Type="http://schemas.openxmlformats.org/officeDocument/2006/relationships/chart" Target="/ppt/slides/charts/chart1.xml" Id="Rd37f378c3cec41e1" /><Relationship Type="http://schemas.openxmlformats.org/officeDocument/2006/relationships/notesSlide" Target="/ppt/notesSlides/notesSlide3.xml" Id="R5e8d4138f92043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17370a1454528" /><Relationship Type="http://schemas.openxmlformats.org/officeDocument/2006/relationships/notesSlide" Target="/ppt/notesSlides/notesSlide4.xml" Id="R17b4b705a9fb4f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c14dbc9c84b3d" /><Relationship Type="http://schemas.openxmlformats.org/officeDocument/2006/relationships/chart" Target="/ppt/slides/charts/chart2.xml" Id="Re286310bb58749f1" /><Relationship Type="http://schemas.openxmlformats.org/officeDocument/2006/relationships/notesSlide" Target="/ppt/notesSlides/notesSlide5.xml" Id="R80c6fd578b2f43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7765f718e4a54" /><Relationship Type="http://schemas.openxmlformats.org/officeDocument/2006/relationships/chart" Target="/ppt/slides/charts/chart3.xml" Id="R3c3a782e43064afb" /><Relationship Type="http://schemas.openxmlformats.org/officeDocument/2006/relationships/notesSlide" Target="/ppt/notesSlides/notesSlide6.xml" Id="Rec00f68b3c2047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a7502230449ba" /><Relationship Type="http://schemas.openxmlformats.org/officeDocument/2006/relationships/notesSlide" Target="/ppt/notesSlides/notesSlide7.xml" Id="R3b6262f7df4e41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ca2eae6d84a55" /><Relationship Type="http://schemas.openxmlformats.org/officeDocument/2006/relationships/notesSlide" Target="/ppt/notesSlides/notesSlide8.xml" Id="Rca7fc0f467144a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4bd4b532a49ef" /><Relationship Type="http://schemas.openxmlformats.org/officeDocument/2006/relationships/notesSlide" Target="/ppt/notesSlides/notesSlide9.xml" Id="R3ff81182db5941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f1b179af24d99" /><Relationship Type="http://schemas.openxmlformats.org/officeDocument/2006/relationships/notesSlide" Target="/ppt/notesSlides/notesSlide10.xml" Id="R91b60244135044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128d5da064776" /><Relationship Type="http://schemas.openxmlformats.org/officeDocument/2006/relationships/notesSlide" Target="/ppt/notesSlides/notesSlide11.xml" Id="Rece5e3b6dce640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bc48aa42642bb" /><Relationship Type="http://schemas.openxmlformats.org/officeDocument/2006/relationships/notesSlide" Target="/ppt/notesSlides/notesSlide12.xml" Id="R890060e1211341a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b9127af0a4976" /><Relationship Type="http://schemas.openxmlformats.org/officeDocument/2006/relationships/notesSlide" Target="/ppt/notesSlides/notesSlide13.xml" Id="R4e697d84e8d94d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39be079d34b4a" /><Relationship Type="http://schemas.openxmlformats.org/officeDocument/2006/relationships/notesSlide" Target="/ppt/notesSlides/notesSlide14.xml" Id="R034200b543cb4b47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0B1220"/>
                </a:solidFill>
              </a:rPr>
              <a:t>Revenue and material segments — normalized index (example only)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0B1220"/>
              </a:solidFill>
            </a:defRPr>
          </a:pPr>
        </a:p>
      </c:txPr>
    </c:title>
    <c:plotArea>
      <c:lineChart>
        <c:grouping val="standard"/>
        <c:ser>
          <c:idx val="0"/>
          <c:order val="0"/>
          <c:tx>
            <c:v>Total revenue</c:v>
          </c:tx>
          <c:spPr>
            <a:ln xmlns:a="http://schemas.openxmlformats.org/drawingml/2006/main" w="28575">
              <a:solidFill>
                <a:srgbClr val="0B1220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FY−4</c:v>
              </c:pt>
              <c:pt idx="1">
                <c:v>FY−3</c:v>
              </c:pt>
              <c:pt idx="2">
                <c:v>FY−2</c:v>
              </c:pt>
              <c:pt idx="3">
                <c:v>FY−1</c:v>
              </c:pt>
              <c:pt idx="4">
                <c:v>FY0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104</c:v>
              </c:pt>
              <c:pt idx="2">
                <c:v>109</c:v>
              </c:pt>
              <c:pt idx="3">
                <c:v>115</c:v>
              </c:pt>
              <c:pt idx="4">
                <c:v>121</c:v>
              </c:pt>
            </c:numLit>
          </c:val>
        </c:ser>
        <c:ser>
          <c:idx val="1"/>
          <c:order val="1"/>
          <c:tx>
            <c:v>Segment A</c:v>
          </c:tx>
          <c:spPr>
            <a:ln xmlns:a="http://schemas.openxmlformats.org/drawingml/2006/main" w="28575">
              <a:solidFill>
                <a:srgbClr val="2474E6"/>
              </a:solidFill>
              <a:prstDash val="solid"/>
            </a:ln>
          </c:spPr>
          <c:marker>
            <c:symbol val="square"/>
            <c:size val="7"/>
          </c:marker>
          <c:cat>
            <c:strLit>
              <c:ptCount val="5"/>
              <c:pt idx="0">
                <c:v>FY−4</c:v>
              </c:pt>
              <c:pt idx="1">
                <c:v>FY−3</c:v>
              </c:pt>
              <c:pt idx="2">
                <c:v>FY−2</c:v>
              </c:pt>
              <c:pt idx="3">
                <c:v>FY−1</c:v>
              </c:pt>
              <c:pt idx="4">
                <c:v>FY0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107</c:v>
              </c:pt>
              <c:pt idx="2">
                <c:v>115</c:v>
              </c:pt>
              <c:pt idx="3">
                <c:v>126</c:v>
              </c:pt>
              <c:pt idx="4">
                <c:v>139</c:v>
              </c:pt>
            </c:numLit>
          </c:val>
        </c:ser>
        <c:ser>
          <c:idx val="2"/>
          <c:order val="2"/>
          <c:tx>
            <c:v>Segment B</c:v>
          </c:tx>
          <c:spPr>
            <a:ln xmlns:a="http://schemas.openxmlformats.org/drawingml/2006/main" w="19050">
              <a:solidFill>
                <a:srgbClr val="536174"/>
              </a:solidFill>
              <a:prstDash val="dash"/>
            </a:ln>
          </c:spPr>
          <c:marker>
            <c:symbol val="diamond"/>
            <c:size val="7"/>
          </c:marker>
          <c:cat>
            <c:strLit>
              <c:ptCount val="5"/>
              <c:pt idx="0">
                <c:v>FY−4</c:v>
              </c:pt>
              <c:pt idx="1">
                <c:v>FY−3</c:v>
              </c:pt>
              <c:pt idx="2">
                <c:v>FY−2</c:v>
              </c:pt>
              <c:pt idx="3">
                <c:v>FY−1</c:v>
              </c:pt>
              <c:pt idx="4">
                <c:v>FY0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101</c:v>
              </c:pt>
              <c:pt idx="2">
                <c:v>102</c:v>
              </c:pt>
              <c:pt idx="3">
                <c:v>103</c:v>
              </c:pt>
              <c:pt idx="4">
                <c:v>104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Fiscal period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50"/>
          <c:min val="9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Index (FY−4 = 100)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36174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8BCC4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0B1220"/>
                </a:solidFill>
              </a:rPr>
              <a:t>Revenue forecast paths — normalized index (example only)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0B1220"/>
              </a:solidFill>
            </a:defRPr>
          </a:pPr>
        </a:p>
      </c:txPr>
    </c:title>
    <c:plotArea>
      <c:lineChart>
        <c:grouping val="standard"/>
        <c:ser>
          <c:idx val="0"/>
          <c:order val="0"/>
          <c:tx>
            <c:v>Upside</c:v>
          </c:tx>
          <c:spPr>
            <a:ln xmlns:a="http://schemas.openxmlformats.org/drawingml/2006/main" w="28575">
              <a:solidFill>
                <a:srgbClr val="2474E6"/>
              </a:solidFill>
              <a:prstDash val="solid"/>
            </a:ln>
          </c:spPr>
          <c:marker>
            <c:symbol val="triangle"/>
            <c:size val="7"/>
          </c:marker>
          <c:cat>
            <c:strLit>
              <c:ptCount val="5"/>
              <c:pt idx="0">
                <c:v>FY1</c:v>
              </c:pt>
              <c:pt idx="1">
                <c:v>FY2</c:v>
              </c:pt>
              <c:pt idx="2">
                <c:v>FY3</c:v>
              </c:pt>
              <c:pt idx="3">
                <c:v>FY4</c:v>
              </c:pt>
              <c:pt idx="4">
                <c:v>FY5</c:v>
              </c:pt>
            </c:strLit>
          </c:cat>
          <c:val>
            <c:numLit>
              <c:formatCode>General</c:formatCode>
              <c:ptCount val="5"/>
              <c:pt idx="0">
                <c:v>106</c:v>
              </c:pt>
              <c:pt idx="1">
                <c:v>114</c:v>
              </c:pt>
              <c:pt idx="2">
                <c:v>123</c:v>
              </c:pt>
              <c:pt idx="3">
                <c:v>133</c:v>
              </c:pt>
              <c:pt idx="4">
                <c:v>144</c:v>
              </c:pt>
            </c:numLit>
          </c:val>
        </c:ser>
        <c:ser>
          <c:idx val="1"/>
          <c:order val="1"/>
          <c:tx>
            <c:v>Base</c:v>
          </c:tx>
          <c:spPr>
            <a:ln xmlns:a="http://schemas.openxmlformats.org/drawingml/2006/main" w="28575">
              <a:solidFill>
                <a:srgbClr val="0B1220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FY1</c:v>
              </c:pt>
              <c:pt idx="1">
                <c:v>FY2</c:v>
              </c:pt>
              <c:pt idx="2">
                <c:v>FY3</c:v>
              </c:pt>
              <c:pt idx="3">
                <c:v>FY4</c:v>
              </c:pt>
              <c:pt idx="4">
                <c:v>FY5</c:v>
              </c:pt>
            </c:strLit>
          </c:cat>
          <c:val>
            <c:numLit>
              <c:formatCode>General</c:formatCode>
              <c:ptCount val="5"/>
              <c:pt idx="0">
                <c:v>104</c:v>
              </c:pt>
              <c:pt idx="1">
                <c:v>109</c:v>
              </c:pt>
              <c:pt idx="2">
                <c:v>115</c:v>
              </c:pt>
              <c:pt idx="3">
                <c:v>121</c:v>
              </c:pt>
              <c:pt idx="4">
                <c:v>128</c:v>
              </c:pt>
            </c:numLit>
          </c:val>
        </c:ser>
        <c:ser>
          <c:idx val="2"/>
          <c:order val="2"/>
          <c:tx>
            <c:v>Downside</c:v>
          </c:tx>
          <c:spPr>
            <a:ln xmlns:a="http://schemas.openxmlformats.org/drawingml/2006/main" w="28575">
              <a:solidFill>
                <a:srgbClr val="536174"/>
              </a:solidFill>
              <a:prstDash val="dash"/>
            </a:ln>
          </c:spPr>
          <c:marker>
            <c:symbol val="square"/>
            <c:size val="7"/>
          </c:marker>
          <c:cat>
            <c:strLit>
              <c:ptCount val="5"/>
              <c:pt idx="0">
                <c:v>FY1</c:v>
              </c:pt>
              <c:pt idx="1">
                <c:v>FY2</c:v>
              </c:pt>
              <c:pt idx="2">
                <c:v>FY3</c:v>
              </c:pt>
              <c:pt idx="3">
                <c:v>FY4</c:v>
              </c:pt>
              <c:pt idx="4">
                <c:v>FY5</c:v>
              </c:pt>
            </c:strLit>
          </c:cat>
          <c:val>
            <c:numLit>
              <c:formatCode>General</c:formatCode>
              <c:ptCount val="5"/>
              <c:pt idx="0">
                <c:v>101</c:v>
              </c:pt>
              <c:pt idx="1">
                <c:v>102</c:v>
              </c:pt>
              <c:pt idx="2">
                <c:v>103</c:v>
              </c:pt>
              <c:pt idx="3">
                <c:v>104</c:v>
              </c:pt>
              <c:pt idx="4">
                <c:v>105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Forecast fiscal year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50"/>
          <c:min val="9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Index (latest actual = 100)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36174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8BCC4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0B1220"/>
                </a:solidFill>
              </a:rPr>
              <a:t>Decision value by scenario — normalized index (example only)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0B1220"/>
              </a:solidFill>
            </a:defRPr>
          </a:pPr>
        </a:p>
      </c:txPr>
    </c:title>
    <c:plotArea>
      <c:barChart>
        <c:barDir val="col"/>
        <c:grouping val="clustered"/>
        <c:varyColors val="1"/>
        <c:ser>
          <c:idx val="0"/>
          <c:order val="0"/>
          <c:tx>
            <c:v>Value index</c:v>
          </c:tx>
          <c:spPr>
            <a:solidFill xmlns:a="http://schemas.openxmlformats.org/drawingml/2006/main">
              <a:srgbClr val="2474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53617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B122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474E6"/>
              </a:solidFill>
            </c:spPr>
          </c:dPt>
          <c:cat>
            <c:strLit>
              <c:ptCount val="3"/>
              <c:pt idx="0">
                <c:v>Downside</c:v>
              </c:pt>
              <c:pt idx="1">
                <c:v>Base</c:v>
              </c:pt>
              <c:pt idx="2">
                <c:v>Upside</c:v>
              </c:pt>
            </c:strLit>
          </c:cat>
          <c:val>
            <c:numLit>
              <c:formatCode>General</c:formatCode>
              <c:ptCount val="3"/>
              <c:pt idx="0">
                <c:v>80</c:v>
              </c:pt>
              <c:pt idx="1">
                <c:v>100</c:v>
              </c:pt>
              <c:pt idx="2">
                <c:v>120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0B12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36174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Value index (base = 100)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8BCC4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CC9E920-6111-4A5D-8E69-F0E605DD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BUS311  •  INDIVIDUAL COMPANY CAPSTONE</a:t>
            </a:r>
          </a:p>
        </p:txBody>
      </p:sp>
      <p:sp>
        <p:nvSpPr>
          <p:cNvPr id="2" name="company-line">
            <a:extLst xmlns:a="http://schemas.openxmlformats.org/drawingml/2006/main">
              <a:ext uri="{FF2B5EF4-FFF2-40B4-BE49-F238E27FC236}">
                <a16:creationId xmlns:a16="http://schemas.microsoft.com/office/drawing/2014/main" id="{95FC3340-3C09-4F12-BC1C-A4E02C74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3850"/>
            <a:ext cx="413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[COMPANY]  •  [TICKER]  •  [STUDENT]  •  [DATE]</a:t>
            </a:r>
          </a:p>
        </p:txBody>
      </p:sp>
      <p:sp>
        <p:nvSpPr>
          <p:cNvPr id="3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C20B01C9-E257-41CB-981A-3E063FB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8001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66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The Board should [approve / reject / modify] [specific CFO action]</a:t>
            </a:r>
          </a:p>
        </p:txBody>
      </p:sp>
      <p:sp>
        <p:nvSpPr>
          <p:cNvPr id="4" name="decision-accent">
            <a:extLst xmlns:a="http://schemas.openxmlformats.org/drawingml/2006/main">
              <a:ext uri="{FF2B5EF4-FFF2-40B4-BE49-F238E27FC236}">
                <a16:creationId xmlns:a16="http://schemas.microsoft.com/office/drawing/2014/main" id="{694C6BE4-1CD3-443A-B1EA-190B0403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52500"/>
            <a:ext cx="28003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cision-ask-label">
            <a:extLst xmlns:a="http://schemas.openxmlformats.org/drawingml/2006/main">
              <a:ext uri="{FF2B5EF4-FFF2-40B4-BE49-F238E27FC236}">
                <a16:creationId xmlns:a16="http://schemas.microsoft.com/office/drawing/2014/main" id="{687F0DFF-47E2-4ACF-A77D-D516BBA4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1811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REQUESTED</a:t>
            </a:r>
          </a:p>
        </p:txBody>
      </p:sp>
      <p:sp>
        <p:nvSpPr>
          <p:cNvPr id="6" name="decision-ask">
            <a:extLst xmlns:a="http://schemas.openxmlformats.org/drawingml/2006/main">
              <a:ext uri="{FF2B5EF4-FFF2-40B4-BE49-F238E27FC236}">
                <a16:creationId xmlns:a16="http://schemas.microsoft.com/office/drawing/2014/main" id="{6F851B9A-038F-4E87-B9A8-C3671C1D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04950"/>
            <a:ext cx="2266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[One sentence: what the CFO and Board must decide now]</a:t>
            </a:r>
          </a:p>
        </p:txBody>
      </p:sp>
      <p:sp>
        <p:nvSpPr>
          <p:cNvPr id="7" name="recommendation-label">
            <a:extLst xmlns:a="http://schemas.openxmlformats.org/drawingml/2006/main">
              <a:ext uri="{FF2B5EF4-FFF2-40B4-BE49-F238E27FC236}">
                <a16:creationId xmlns:a16="http://schemas.microsoft.com/office/drawing/2014/main" id="{19634BA9-1EA3-40BC-B848-D3DA5DD9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8" name="recommendation">
            <a:extLst xmlns:a="http://schemas.openxmlformats.org/drawingml/2006/main">
              <a:ext uri="{FF2B5EF4-FFF2-40B4-BE49-F238E27FC236}">
                <a16:creationId xmlns:a16="http://schemas.microsoft.com/office/drawing/2014/main" id="{E3579229-7277-4C7E-A065-5E4CB58E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[State the action, scale, timing, and decision rule in one sentence.]</a:t>
            </a:r>
          </a:p>
        </p:txBody>
      </p:sp>
      <p:sp>
        <p:nvSpPr>
          <p:cNvPr id="9" name="thesis-rule">
            <a:extLst xmlns:a="http://schemas.openxmlformats.org/drawingml/2006/main">
              <a:ext uri="{FF2B5EF4-FFF2-40B4-BE49-F238E27FC236}">
                <a16:creationId xmlns:a16="http://schemas.microsoft.com/office/drawing/2014/main" id="{3632F61F-2AE7-4AA2-859E-9FF39EBD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hesis-1">
            <a:extLst xmlns:a="http://schemas.openxmlformats.org/drawingml/2006/main">
              <a:ext uri="{FF2B5EF4-FFF2-40B4-BE49-F238E27FC236}">
                <a16:creationId xmlns:a16="http://schemas.microsoft.com/office/drawing/2014/main" id="{5DBFF91B-A0D8-4219-B1BF-D71C9800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WHY NOW</a:t>
            </a:r>
          </a:p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[Operating evidence that creates urgency]</a:t>
            </a:r>
          </a:p>
        </p:txBody>
      </p:sp>
      <p:sp>
        <p:nvSpPr>
          <p:cNvPr id="11" name="thesis-2">
            <a:extLst xmlns:a="http://schemas.openxmlformats.org/drawingml/2006/main">
              <a:ext uri="{FF2B5EF4-FFF2-40B4-BE49-F238E27FC236}">
                <a16:creationId xmlns:a16="http://schemas.microsoft.com/office/drawing/2014/main" id="{A111EF1E-55F6-452B-9ABB-6ED69640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48200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VALUE AT STAKE</a:t>
            </a:r>
          </a:p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[Scenario or valuation implication]</a:t>
            </a:r>
          </a:p>
        </p:txBody>
      </p:sp>
      <p:sp>
        <p:nvSpPr>
          <p:cNvPr id="12" name="thesis-3">
            <a:extLst xmlns:a="http://schemas.openxmlformats.org/drawingml/2006/main">
              <a:ext uri="{FF2B5EF4-FFF2-40B4-BE49-F238E27FC236}">
                <a16:creationId xmlns:a16="http://schemas.microsoft.com/office/drawing/2014/main" id="{6FF4B99C-27BA-4FFD-81CA-B836468A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48200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CONTROL POINT</a:t>
            </a:r>
          </a:p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[Trigger that changes the recommendation]</a:t>
            </a:r>
          </a:p>
        </p:txBody>
      </p:sp>
      <p:sp>
        <p:nvSpPr>
          <p:cNvPr id="13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E37D46BF-2DC6-4080-AB26-A6CB0583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7A6E4495-FC80-4DE8-9F27-99468808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[S1 / F1 / M1 IDs supporting the decision; dates and definitions]  •  AI is not a source</a:t>
            </a:r>
          </a:p>
        </p:txBody>
      </p:sp>
      <p:sp>
        <p:nvSpPr>
          <p:cNvPr id="15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120B2E06-6C7F-4A1D-9DF3-942CFA85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01/10  •  01</a:t>
            </a:r>
          </a:p>
        </p:txBody>
      </p:sp>
    </p:spTree>
    <p:extLst>
      <p:ext uri="{BB962C8B-B14F-4D97-AF65-F5344CB8AC3E}">
        <p14:creationId xmlns:p14="http://schemas.microsoft.com/office/powerpoint/2010/main" val="1819522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2">
            <a:extLst xmlns:a="http://schemas.openxmlformats.org/drawingml/2006/main">
              <a:ext uri="{FF2B5EF4-FFF2-40B4-BE49-F238E27FC236}">
                <a16:creationId xmlns:a16="http://schemas.microsoft.com/office/drawing/2014/main" id="{6386492F-4E96-45A2-9A49-2A6218E1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REVENUE ENGINE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724C8A7F-4425-444F-A9F3-692EE332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The revenue engine turns [customer need] into [economic value]</a:t>
            </a:r>
          </a:p>
        </p:txBody>
      </p:sp>
      <p:sp>
        <p:nvSpPr>
          <p:cNvPr id="3" name="engine-thesis">
            <a:extLst xmlns:a="http://schemas.openxmlformats.org/drawingml/2006/main">
              <a:ext uri="{FF2B5EF4-FFF2-40B4-BE49-F238E27FC236}">
                <a16:creationId xmlns:a16="http://schemas.microsoft.com/office/drawing/2014/main" id="{DCFD69C6-D4D2-4E28-B6F3-EC362E15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90625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[One-sentence operating thesis: where sales come from and which management lever matters most.]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25200" cy="2724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38375"/>
                <a:gridCol w="2667000"/>
                <a:gridCol w="2857500"/>
                <a:gridCol w="3362325"/>
              </a:tblGrid>
              <a:tr h="68103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Offer / segment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Customer + channel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Revenue mechanic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CFO lever + leading indicator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[Segment A]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[Who buys / how sold]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[Price × volume / usage / mix]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[Lever]  •  [Indicator]</a:t>
                      </a:r>
                    </a:p>
                  </a:txBody>
                  <a:tcPr marL="91440" marR="91440" marT="45720" marB="45720"/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[Segment B]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[Who buys / how sold]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[Subscription / transaction / contract]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[Lever]  •  [Indicator]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[Segment C]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[Who buys / how sold]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[Company-specific mechanic]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[Lever]  •  [Indicator]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engine-question">
            <a:extLst xmlns:a="http://schemas.openxmlformats.org/drawingml/2006/main">
              <a:ext uri="{FF2B5EF4-FFF2-40B4-BE49-F238E27FC236}">
                <a16:creationId xmlns:a16="http://schemas.microsoft.com/office/drawing/2014/main" id="{B913E033-AEB5-41B5-A850-0DA1DBA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engine-question-label">
            <a:extLst xmlns:a="http://schemas.openxmlformats.org/drawingml/2006/main">
              <a:ext uri="{FF2B5EF4-FFF2-40B4-BE49-F238E27FC236}">
                <a16:creationId xmlns:a16="http://schemas.microsoft.com/office/drawing/2014/main" id="{AECE3A39-A97D-46FF-9735-6E72BBC2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24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SO WHAT FOR THE DECISION?</a:t>
            </a:r>
          </a:p>
        </p:txBody>
      </p:sp>
      <p:sp>
        <p:nvSpPr>
          <p:cNvPr id="7" name="engine-question-text">
            <a:extLst xmlns:a="http://schemas.openxmlformats.org/drawingml/2006/main">
              <a:ext uri="{FF2B5EF4-FFF2-40B4-BE49-F238E27FC236}">
                <a16:creationId xmlns:a16="http://schemas.microsoft.com/office/drawing/2014/main" id="{8B999BB3-8F39-4589-BD9A-9A4EE3B5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[Identify the one driver the recommendation changes, protects, funds, or puts at risk.]</a:t>
            </a:r>
          </a:p>
        </p:txBody>
      </p:sp>
      <p:sp>
        <p:nvSpPr>
          <p:cNvPr id="8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DB5F26E3-22EC-47CF-B92D-5BC4C12C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C9593943-0028-4983-8341-7F0BC975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[SEC filing + date + table/item]  •  [FactSet item + data-through date]  •  Definitions in notes</a:t>
            </a:r>
          </a:p>
        </p:txBody>
      </p:sp>
      <p:sp>
        <p:nvSpPr>
          <p:cNvPr id="10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CF580E44-0824-49FD-A744-43139161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02/10  •  02</a:t>
            </a:r>
          </a:p>
        </p:txBody>
      </p:sp>
    </p:spTree>
    <p:extLst>
      <p:ext uri="{BB962C8B-B14F-4D97-AF65-F5344CB8AC3E}">
        <p14:creationId xmlns:p14="http://schemas.microsoft.com/office/powerpoint/2010/main" val="2714618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3">
            <a:extLst xmlns:a="http://schemas.openxmlformats.org/drawingml/2006/main">
              <a:ext uri="{FF2B5EF4-FFF2-40B4-BE49-F238E27FC236}">
                <a16:creationId xmlns:a16="http://schemas.microsoft.com/office/drawing/2014/main" id="{5D62EFA1-A980-405C-9E99-B003DEB5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HISTORICAL SALES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D106E8FE-1F3A-40A4-B1F1-F7804A14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Sales moved because [driver], not time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22A741F0-892F-4966-8252-33B16E33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ILLUSTRATIVE PLACEHOLDER — REPLACE WITH VERIFIED COMPANY DATA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7000875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7f378c3cec41e1"/>
          </a:graphicData>
        </a:graphic>
      </p:graphicFrame>
      <p:sp>
        <p:nvSpPr>
          <p:cNvPr id="5" name="driver-head">
            <a:extLst xmlns:a="http://schemas.openxmlformats.org/drawingml/2006/main">
              <a:ext uri="{FF2B5EF4-FFF2-40B4-BE49-F238E27FC236}">
                <a16:creationId xmlns:a16="http://schemas.microsoft.com/office/drawing/2014/main" id="{355B9A92-CB05-4A53-94D5-582581B4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DRIVER DECOMPOSITION</a:t>
            </a:r>
          </a:p>
        </p:txBody>
      </p:sp>
      <p:sp>
        <p:nvSpPr>
          <p:cNvPr id="6" name="driver-body">
            <a:extLst xmlns:a="http://schemas.openxmlformats.org/drawingml/2006/main">
              <a:ext uri="{FF2B5EF4-FFF2-40B4-BE49-F238E27FC236}">
                <a16:creationId xmlns:a16="http://schemas.microsoft.com/office/drawing/2014/main" id="{517393D3-2FDF-4000-A60D-4D31B274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809750"/>
            <a:ext cx="3429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1  [Price / rate]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2  [Volume / usage]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3  [Mix / geography]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4  [Currency / M&amp;A / locations]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Repeatable: [____]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Temporary: [____]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Not disclosed: [____]</a:t>
            </a:r>
          </a:p>
        </p:txBody>
      </p:sp>
      <p:sp>
        <p:nvSpPr>
          <p:cNvPr id="7" name="driver-so-what">
            <a:extLst xmlns:a="http://schemas.openxmlformats.org/drawingml/2006/main">
              <a:ext uri="{FF2B5EF4-FFF2-40B4-BE49-F238E27FC236}">
                <a16:creationId xmlns:a16="http://schemas.microsoft.com/office/drawing/2014/main" id="{ABFF71C9-1C3F-49A8-8951-C235223B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76250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Decision implication: [Which historical driver is financeable, controllable, and likely to persist?]</a:t>
            </a:r>
          </a:p>
        </p:txBody>
      </p:sp>
      <p:sp>
        <p:nvSpPr>
          <p:cNvPr id="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3DC0D37-7674-4B15-80C8-B67DE878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1845D3A3-29BD-4C3D-B9B0-C875EB89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[S# / F#]  •  Fiscal years [____–____]  •  Currency/units [____]  •  Metric definition [____]</a:t>
            </a:r>
          </a:p>
        </p:txBody>
      </p:sp>
      <p:sp>
        <p:nvSpPr>
          <p:cNvPr id="1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264CC6F-7487-4903-A330-4FD70BCC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03/10  •  03</a:t>
            </a:r>
          </a:p>
        </p:txBody>
      </p:sp>
    </p:spTree>
    <p:extLst>
      <p:ext uri="{BB962C8B-B14F-4D97-AF65-F5344CB8AC3E}">
        <p14:creationId xmlns:p14="http://schemas.microsoft.com/office/powerpoint/2010/main" val="8719588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9E1BC095-00FE-4E8B-A327-25E669BF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TESTABLE HYPOTHESIS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33923BF-2DD3-410A-AB41-79D7010C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The red team [confirmed / changed] the hypothesis</a:t>
            </a:r>
          </a:p>
        </p:txBody>
      </p:sp>
      <p:sp>
        <p:nvSpPr>
          <p:cNvPr id="3" name="hyp-left">
            <a:extLst xmlns:a="http://schemas.openxmlformats.org/drawingml/2006/main">
              <a:ext uri="{FF2B5EF4-FFF2-40B4-BE49-F238E27FC236}">
                <a16:creationId xmlns:a16="http://schemas.microsoft.com/office/drawing/2014/main" id="{C5F611FB-9B83-4B5E-B26E-BB50088F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32956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hyp-mid">
            <a:extLst xmlns:a="http://schemas.openxmlformats.org/drawingml/2006/main">
              <a:ext uri="{FF2B5EF4-FFF2-40B4-BE49-F238E27FC236}">
                <a16:creationId xmlns:a16="http://schemas.microsoft.com/office/drawing/2014/main" id="{C95BDBFC-D6EA-4B66-A145-1012F31F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352550"/>
            <a:ext cx="32956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hyp-right">
            <a:extLst xmlns:a="http://schemas.openxmlformats.org/drawingml/2006/main">
              <a:ext uri="{FF2B5EF4-FFF2-40B4-BE49-F238E27FC236}">
                <a16:creationId xmlns:a16="http://schemas.microsoft.com/office/drawing/2014/main" id="{410637B3-D4F2-4AA9-BD7B-8886E49D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352550"/>
            <a:ext cx="32956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hyp-lab1">
            <a:extLst xmlns:a="http://schemas.openxmlformats.org/drawingml/2006/main">
              <a:ext uri="{FF2B5EF4-FFF2-40B4-BE49-F238E27FC236}">
                <a16:creationId xmlns:a16="http://schemas.microsoft.com/office/drawing/2014/main" id="{23308E4F-4E40-41A3-B55F-9F992ECC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1  ORIGINAL HYPOTHESIS</a:t>
            </a:r>
          </a:p>
        </p:txBody>
      </p:sp>
      <p:sp>
        <p:nvSpPr>
          <p:cNvPr id="7" name="hyp-txt1">
            <a:extLst xmlns:a="http://schemas.openxmlformats.org/drawingml/2006/main">
              <a:ext uri="{FF2B5EF4-FFF2-40B4-BE49-F238E27FC236}">
                <a16:creationId xmlns:a16="http://schemas.microsoft.com/office/drawing/2014/main" id="{860DCC9C-3132-4C65-B4E3-BF456B33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285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[Mechanism] will [directional or measurable effect] over [period] because [operating logic].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Falsified if: [observable evidence]</a:t>
            </a:r>
          </a:p>
        </p:txBody>
      </p:sp>
      <p:sp>
        <p:nvSpPr>
          <p:cNvPr id="8" name="hyp-lab2">
            <a:extLst xmlns:a="http://schemas.openxmlformats.org/drawingml/2006/main">
              <a:ext uri="{FF2B5EF4-FFF2-40B4-BE49-F238E27FC236}">
                <a16:creationId xmlns:a16="http://schemas.microsoft.com/office/drawing/2014/main" id="{2FFBE690-ABF0-4015-85EE-D9ED3533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2  STRONGEST CHALLENGE</a:t>
            </a:r>
          </a:p>
        </p:txBody>
      </p:sp>
      <p:sp>
        <p:nvSpPr>
          <p:cNvPr id="9" name="hyp-txt2">
            <a:extLst xmlns:a="http://schemas.openxmlformats.org/drawingml/2006/main">
              <a:ext uri="{FF2B5EF4-FFF2-40B4-BE49-F238E27FC236}">
                <a16:creationId xmlns:a16="http://schemas.microsoft.com/office/drawing/2014/main" id="{F5A91A02-DCBA-415C-974E-BA7BFE64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0250"/>
            <a:ext cx="285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[Alternative explanation / missing variable / scenario risk]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Checked: [evidence]</a:t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Finding: [what the evidence showed]</a:t>
            </a:r>
          </a:p>
        </p:txBody>
      </p:sp>
      <p:sp>
        <p:nvSpPr>
          <p:cNvPr id="10" name="hyp-lab3">
            <a:extLst xmlns:a="http://schemas.openxmlformats.org/drawingml/2006/main">
              <a:ext uri="{FF2B5EF4-FFF2-40B4-BE49-F238E27FC236}">
                <a16:creationId xmlns:a16="http://schemas.microsoft.com/office/drawing/2014/main" id="{420AF305-F518-4E31-9EF8-025D50B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3  STUDENT JUDGMENT</a:t>
            </a:r>
          </a:p>
        </p:txBody>
      </p:sp>
      <p:sp>
        <p:nvSpPr>
          <p:cNvPr id="11" name="hyp-txt3">
            <a:extLst xmlns:a="http://schemas.openxmlformats.org/drawingml/2006/main">
              <a:ext uri="{FF2B5EF4-FFF2-40B4-BE49-F238E27FC236}">
                <a16:creationId xmlns:a16="http://schemas.microsoft.com/office/drawing/2014/main" id="{2188EDC0-F6DC-44BD-85B1-A6F48857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85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[ACCEPT / MODIFY / REJECT]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Revised hypothesis: [____]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Forecast implication: [____]</a:t>
            </a:r>
          </a:p>
        </p:txBody>
      </p:sp>
      <p:sp>
        <p:nvSpPr>
          <p:cNvPr id="12" name="capaj">
            <a:extLst xmlns:a="http://schemas.openxmlformats.org/drawingml/2006/main">
              <a:ext uri="{FF2B5EF4-FFF2-40B4-BE49-F238E27FC236}">
                <a16:creationId xmlns:a16="http://schemas.microsoft.com/office/drawing/2014/main" id="{7C19B6B7-CB5B-4C10-871A-ECE56173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C-A-P-A-J: Context  •  Assumptions  •  Prompt  •  Assess independently  •  Judge</a:t>
            </a:r>
          </a:p>
        </p:txBody>
      </p:sp>
      <p:sp>
        <p:nvSpPr>
          <p:cNvPr id="1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DBDCF74-232F-4442-8E13-2CB48F4E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82A05D45-06B2-4ADA-BB17-BBE35B48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Verification: [SEC / FactSet / Excel / course evidence IDs]  •  AI tool is disclosed, not cited as a source</a:t>
            </a:r>
          </a:p>
        </p:txBody>
      </p:sp>
      <p:sp>
        <p:nvSpPr>
          <p:cNvPr id="15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5CD32EDD-66E5-43F9-9866-05B2EA8A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04/10  •  04</a:t>
            </a:r>
          </a:p>
        </p:txBody>
      </p:sp>
    </p:spTree>
    <p:extLst>
      <p:ext uri="{BB962C8B-B14F-4D97-AF65-F5344CB8AC3E}">
        <p14:creationId xmlns:p14="http://schemas.microsoft.com/office/powerpoint/2010/main" val="17069349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5">
            <a:extLst xmlns:a="http://schemas.openxmlformats.org/drawingml/2006/main">
              <a:ext uri="{FF2B5EF4-FFF2-40B4-BE49-F238E27FC236}">
                <a16:creationId xmlns:a16="http://schemas.microsoft.com/office/drawing/2014/main" id="{ED4072EC-40B6-4F15-9E85-EFA4C79C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FORECAST SCENARIOS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F6C422B-0B94-46E8-9E14-71C6DA04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Three forecast paths make the hypothesis testable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1F3AFECC-2096-4171-9E70-4D4C7B83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ILLUSTRATIVE PLACEHOLDER — REPLACE WITH VERIFIED COMPANY DATA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7239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86310bb58749f1"/>
          </a:graphicData>
        </a:graphic>
      </p:graphicFrame>
      <p:sp>
        <p:nvSpPr>
          <p:cNvPr id="5" name="scenario-label">
            <a:extLst xmlns:a="http://schemas.openxmlformats.org/drawingml/2006/main">
              <a:ext uri="{FF2B5EF4-FFF2-40B4-BE49-F238E27FC236}">
                <a16:creationId xmlns:a16="http://schemas.microsoft.com/office/drawing/2014/main" id="{14E93ACF-44F8-4D38-B3BB-6D557080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4287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SCENARIO LOGIC</a:t>
            </a:r>
          </a:p>
        </p:txBody>
      </p:sp>
      <p:sp>
        <p:nvSpPr>
          <p:cNvPr id="6" name="scenario-text">
            <a:extLst xmlns:a="http://schemas.openxmlformats.org/drawingml/2006/main">
              <a:ext uri="{FF2B5EF4-FFF2-40B4-BE49-F238E27FC236}">
                <a16:creationId xmlns:a16="http://schemas.microsoft.com/office/drawing/2014/main" id="{F96FE078-6A84-448A-90F6-45C69FEB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UPSIDE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[Driver + evidence + trigger]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BASE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[Most supportable path]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DOWNSIDE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[Failure mode + trigger]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Common constraint</a:t>
            </a:r>
          </a:p>
          <a:p xmlns:a="http://schemas.openxmlformats.org/drawingml/2006/main">
            <a:pPr algn="l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[Capacity / demand / capital / regulation]</a:t>
            </a:r>
          </a:p>
        </p:txBody>
      </p:sp>
      <p:sp>
        <p:nvSpPr>
          <p:cNvPr id="7" name="scenario-so-what">
            <a:extLst xmlns:a="http://schemas.openxmlformats.org/drawingml/2006/main">
              <a:ext uri="{FF2B5EF4-FFF2-40B4-BE49-F238E27FC236}">
                <a16:creationId xmlns:a16="http://schemas.microsoft.com/office/drawing/2014/main" id="{664A4875-B14C-402E-97F7-CC903382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14350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The recommendation remains valid when: [decision rule].</a:t>
            </a:r>
          </a:p>
        </p:txBody>
      </p:sp>
      <p:sp>
        <p:nvSpPr>
          <p:cNvPr id="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3E1A2E9-F9C4-49DB-AFB6-3307B706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9F3728EB-D6F6-4C1D-9BCD-4AFC156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Assumptions reconciled to [S# / F#]  •  Units [____]</a:t>
            </a:r>
          </a:p>
        </p:txBody>
      </p:sp>
      <p:sp>
        <p:nvSpPr>
          <p:cNvPr id="1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2658762-CBBE-49B3-9B30-2E0A5035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05/10  •  05</a:t>
            </a:r>
          </a:p>
        </p:txBody>
      </p:sp>
    </p:spTree>
    <p:extLst>
      <p:ext uri="{BB962C8B-B14F-4D97-AF65-F5344CB8AC3E}">
        <p14:creationId xmlns:p14="http://schemas.microsoft.com/office/powerpoint/2010/main" val="14940736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6">
            <a:extLst xmlns:a="http://schemas.openxmlformats.org/drawingml/2006/main">
              <a:ext uri="{FF2B5EF4-FFF2-40B4-BE49-F238E27FC236}">
                <a16:creationId xmlns:a16="http://schemas.microsoft.com/office/drawing/2014/main" id="{D1943805-C4BA-4A75-8FB1-A87D3120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VALUATION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F2C8136-435F-4EA0-9AB1-2F29841F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Valuation defines the decision range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3060D394-738C-4AF7-BF5B-3CE776ED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ILLUSTRATIVE PLACEHOLDER — REPLACE WITH VERIFIED COMPANY DATA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6953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3a782e43064afb"/>
          </a:graphicData>
        </a:graphic>
      </p:graphicFrame>
      <p:sp>
        <p:nvSpPr>
          <p:cNvPr id="5" name="val-label">
            <a:extLst xmlns:a="http://schemas.openxmlformats.org/drawingml/2006/main">
              <a:ext uri="{FF2B5EF4-FFF2-40B4-BE49-F238E27FC236}">
                <a16:creationId xmlns:a16="http://schemas.microsoft.com/office/drawing/2014/main" id="{E0FFA2C3-B070-4FC6-BFA6-DB46AEFE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MODEL OUTPUTS TO DEFEND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7953375" y="1809750"/>
          <a:ext xmlns:a="http://schemas.openxmlformats.org/drawingml/2006/main" cx="3429000" cy="2190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09750"/>
                <a:gridCol w="1619250"/>
              </a:tblGrid>
              <a:tr h="4381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Verified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Method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[DCF / NPV / other]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WACC / hurdle + terminal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EV → equity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Model status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[PASS / flag]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val-so-what">
            <a:extLst xmlns:a="http://schemas.openxmlformats.org/drawingml/2006/main">
              <a:ext uri="{FF2B5EF4-FFF2-40B4-BE49-F238E27FC236}">
                <a16:creationId xmlns:a16="http://schemas.microsoft.com/office/drawing/2014/main" id="{2631CB4D-59A8-4C61-9C25-3990E9E3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8625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33350" rIns="133350" bIns="1333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Decision implication</a:t>
            </a:r>
          </a:p>
          <a:p xmlns:a="http://schemas.openxmlformats.org/drawingml/2006/main">
            <a:pPr algn="l">
              <a:defRPr sz="14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[What the range changes about the action, scale, timing, or trigger.]</a:t>
            </a:r>
          </a:p>
        </p:txBody>
      </p:sp>
      <p:sp>
        <p:nvSpPr>
          <p:cNvPr id="8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D4E3964-FFC2-42B2-9132-C9DD9E50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FEE8F6AE-2668-4E67-ADE7-DB966C27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WACC / terminal / peer definitions [____]  •  Reconciled to [S# / F#]</a:t>
            </a:r>
          </a:p>
        </p:txBody>
      </p:sp>
      <p:sp>
        <p:nvSpPr>
          <p:cNvPr id="10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29D49017-023B-4611-A622-114F0A5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06/10  •  06</a:t>
            </a:r>
          </a:p>
        </p:txBody>
      </p:sp>
    </p:spTree>
    <p:extLst>
      <p:ext uri="{BB962C8B-B14F-4D97-AF65-F5344CB8AC3E}">
        <p14:creationId xmlns:p14="http://schemas.microsoft.com/office/powerpoint/2010/main" val="2116502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7">
            <a:extLst xmlns:a="http://schemas.openxmlformats.org/drawingml/2006/main">
              <a:ext uri="{FF2B5EF4-FFF2-40B4-BE49-F238E27FC236}">
                <a16:creationId xmlns:a16="http://schemas.microsoft.com/office/drawing/2014/main" id="{29732F49-9DB3-4DFB-8096-9C004994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RECOMMENDED ACTION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5488CC2-A8F1-47B8-B035-348157F9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CFO action turns evidence into commitment</a:t>
            </a:r>
          </a:p>
        </p:txBody>
      </p:sp>
      <p:sp>
        <p:nvSpPr>
          <p:cNvPr id="3" name="action-main">
            <a:extLst xmlns:a="http://schemas.openxmlformats.org/drawingml/2006/main">
              <a:ext uri="{FF2B5EF4-FFF2-40B4-BE49-F238E27FC236}">
                <a16:creationId xmlns:a16="http://schemas.microsoft.com/office/drawing/2014/main" id="{CF7E1B68-D418-4A0B-A672-4CFE18C1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0005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26A90A5A-C9B4-4DBA-A835-90852D0D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CBF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DCBF4"/>
                </a:solidFill>
                <a:latin typeface="Aptos"/>
                <a:ea typeface="Aptos"/>
                <a:cs typeface="Aptos"/>
              </a:rPr>
              <a:t>RECOMMEND</a:t>
            </a:r>
          </a:p>
        </p:txBody>
      </p:sp>
      <p:sp>
        <p:nvSpPr>
          <p:cNvPr id="5" name="action-text">
            <a:extLst xmlns:a="http://schemas.openxmlformats.org/drawingml/2006/main">
              <a:ext uri="{FF2B5EF4-FFF2-40B4-BE49-F238E27FC236}">
                <a16:creationId xmlns:a16="http://schemas.microsoft.com/office/drawing/2014/main" id="{8403C677-318C-4FF3-9B86-F46EDB45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3238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335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[Approve / reject / modify]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[action]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[scale]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[timing]</a:t>
            </a:r>
          </a:p>
        </p:txBody>
      </p:sp>
      <p:sp>
        <p:nvSpPr>
          <p:cNvPr id="6" name="action-rule">
            <a:extLst xmlns:a="http://schemas.openxmlformats.org/drawingml/2006/main">
              <a:ext uri="{FF2B5EF4-FFF2-40B4-BE49-F238E27FC236}">
                <a16:creationId xmlns:a16="http://schemas.microsoft.com/office/drawing/2014/main" id="{65C19F32-1959-4BDA-A50E-DC63295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0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rule</a:t>
            </a:r>
          </a:p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[Proceed only if / pause if / revisit when]</a:t>
            </a:r>
          </a:p>
        </p:txBody>
      </p:sp>
      <p:sp>
        <p:nvSpPr>
          <p:cNvPr id="7" name="action-rail-label">
            <a:extLst xmlns:a="http://schemas.openxmlformats.org/drawingml/2006/main">
              <a:ext uri="{FF2B5EF4-FFF2-40B4-BE49-F238E27FC236}">
                <a16:creationId xmlns:a16="http://schemas.microsoft.com/office/drawing/2014/main" id="{BDABEC93-31CC-41A3-A29E-8FBEDA6A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28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SUPPORTING ACTIONS</a:t>
            </a:r>
          </a:p>
        </p:txBody>
      </p:sp>
      <p:sp>
        <p:nvSpPr>
          <p:cNvPr id="8" name="action-num-0">
            <a:extLst xmlns:a="http://schemas.openxmlformats.org/drawingml/2006/main">
              <a:ext uri="{FF2B5EF4-FFF2-40B4-BE49-F238E27FC236}">
                <a16:creationId xmlns:a16="http://schemas.microsoft.com/office/drawing/2014/main" id="{16E76776-4FEA-463A-9ABC-6F6AC49C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action-copy-0">
            <a:extLst xmlns:a="http://schemas.openxmlformats.org/drawingml/2006/main">
              <a:ext uri="{FF2B5EF4-FFF2-40B4-BE49-F238E27FC236}">
                <a16:creationId xmlns:a16="http://schemas.microsoft.com/office/drawing/2014/main" id="{B2A074B4-B161-4CE2-B8E6-CEFA1EFC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66900"/>
            <a:ext cx="571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14300" rIns="133350" bIns="952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[Supporting action]</a:t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[Owner]  •  [Value / KPI]</a:t>
            </a:r>
          </a:p>
        </p:txBody>
      </p:sp>
      <p:sp>
        <p:nvSpPr>
          <p:cNvPr id="10" name="action-num-1">
            <a:extLst xmlns:a="http://schemas.openxmlformats.org/drawingml/2006/main">
              <a:ext uri="{FF2B5EF4-FFF2-40B4-BE49-F238E27FC236}">
                <a16:creationId xmlns:a16="http://schemas.microsoft.com/office/drawing/2014/main" id="{18F717C5-0615-4E36-B739-A5775C82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670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action-copy-1">
            <a:extLst xmlns:a="http://schemas.openxmlformats.org/drawingml/2006/main">
              <a:ext uri="{FF2B5EF4-FFF2-40B4-BE49-F238E27FC236}">
                <a16:creationId xmlns:a16="http://schemas.microsoft.com/office/drawing/2014/main" id="{62DCBD2F-10BA-471C-9F09-B057D73E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67050"/>
            <a:ext cx="571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14300" rIns="133350" bIns="952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[Supporting action]</a:t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[Owner]  •  [Value / KPI]</a:t>
            </a:r>
          </a:p>
        </p:txBody>
      </p:sp>
      <p:sp>
        <p:nvSpPr>
          <p:cNvPr id="12" name="action-num-2">
            <a:extLst xmlns:a="http://schemas.openxmlformats.org/drawingml/2006/main">
              <a:ext uri="{FF2B5EF4-FFF2-40B4-BE49-F238E27FC236}">
                <a16:creationId xmlns:a16="http://schemas.microsoft.com/office/drawing/2014/main" id="{F41F9237-FD5D-4E29-9AA7-9DB68A84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6720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action-copy-2">
            <a:extLst xmlns:a="http://schemas.openxmlformats.org/drawingml/2006/main">
              <a:ext uri="{FF2B5EF4-FFF2-40B4-BE49-F238E27FC236}">
                <a16:creationId xmlns:a16="http://schemas.microsoft.com/office/drawing/2014/main" id="{C15EDACA-5226-4A2F-B6EF-170C7B37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267200"/>
            <a:ext cx="571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14300" rIns="133350" bIns="952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[Supporting action]</a:t>
            </a:r>
          </a:p>
          <a:p xmlns:a="http://schemas.openxmlformats.org/drawingml/2006/main">
            <a:pPr algn="l"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[Owner]  •  [Value / KPI]</a:t>
            </a:r>
          </a:p>
        </p:txBody>
      </p:sp>
      <p:sp>
        <p:nvSpPr>
          <p:cNvPr id="14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982720FB-2AE6-452C-BE2B-80CD9AC8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7B2D1518-644C-4C7B-B114-34F88EA6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[Model scenario / SEC constraint / FactSet benchmark IDs]  •  Definitions and assumptions in appendix</a:t>
            </a:r>
          </a:p>
        </p:txBody>
      </p:sp>
      <p:sp>
        <p:nvSpPr>
          <p:cNvPr id="1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5D4C7090-3205-4F21-B0E0-2F49C9F6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07/10  •  07</a:t>
            </a:r>
          </a:p>
        </p:txBody>
      </p:sp>
    </p:spTree>
    <p:extLst>
      <p:ext uri="{BB962C8B-B14F-4D97-AF65-F5344CB8AC3E}">
        <p14:creationId xmlns:p14="http://schemas.microsoft.com/office/powerpoint/2010/main" val="4227733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8">
            <a:extLst xmlns:a="http://schemas.openxmlformats.org/drawingml/2006/main">
              <a:ext uri="{FF2B5EF4-FFF2-40B4-BE49-F238E27FC236}">
                <a16:creationId xmlns:a16="http://schemas.microsoft.com/office/drawing/2014/main" id="{CEE3D9E2-8849-4626-B09A-B27B993F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IMPLEMENTATION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917A07ED-965E-467B-9C4E-1CCBEF74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Implementation creates accountable milestones</a:t>
            </a:r>
          </a:p>
        </p:txBody>
      </p:sp>
      <p:sp>
        <p:nvSpPr>
          <p:cNvPr id="3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C4512A65-0565-4512-A672-12F6C01C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81300"/>
            <a:ext cx="9858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6A5425D-6E18-4B9F-B1C4-F21E25B8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timeline-lab-0">
            <a:extLst xmlns:a="http://schemas.openxmlformats.org/drawingml/2006/main">
              <a:ext uri="{FF2B5EF4-FFF2-40B4-BE49-F238E27FC236}">
                <a16:creationId xmlns:a16="http://schemas.microsoft.com/office/drawing/2014/main" id="{3303157A-173C-4B3B-9D33-E06C6F51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6" name="timeline-copy-0">
            <a:extLst xmlns:a="http://schemas.openxmlformats.org/drawingml/2006/main">
              <a:ext uri="{FF2B5EF4-FFF2-40B4-BE49-F238E27FC236}">
                <a16:creationId xmlns:a16="http://schemas.microsoft.com/office/drawing/2014/main" id="{531BB256-1C64-4AF6-A9A4-5D19747B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[Board approval / scope]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Owner: [____]</a:t>
            </a:r>
          </a:p>
        </p:txBody>
      </p:sp>
      <p:sp>
        <p:nvSpPr>
          <p:cNvPr id="7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492AFE89-C953-4648-939E-0F1F2332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timeline-lab-1">
            <a:extLst xmlns:a="http://schemas.openxmlformats.org/drawingml/2006/main">
              <a:ext uri="{FF2B5EF4-FFF2-40B4-BE49-F238E27FC236}">
                <a16:creationId xmlns:a16="http://schemas.microsoft.com/office/drawing/2014/main" id="{92910DB9-658B-4B45-99F3-B418BBD5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0–90 DAYS</a:t>
            </a:r>
          </a:p>
        </p:txBody>
      </p:sp>
      <p:sp>
        <p:nvSpPr>
          <p:cNvPr id="9" name="timeline-copy-1">
            <a:extLst xmlns:a="http://schemas.openxmlformats.org/drawingml/2006/main">
              <a:ext uri="{FF2B5EF4-FFF2-40B4-BE49-F238E27FC236}">
                <a16:creationId xmlns:a16="http://schemas.microsoft.com/office/drawing/2014/main" id="{0783FB06-483D-475D-8FDC-30C679B6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[First operating or financing milestone]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KPI: [____]</a:t>
            </a:r>
          </a:p>
        </p:txBody>
      </p:sp>
      <p:sp>
        <p:nvSpPr>
          <p:cNvPr id="1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1BADE5AA-E42D-4E24-AD27-DC555E50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1" name="timeline-lab-2">
            <a:extLst xmlns:a="http://schemas.openxmlformats.org/drawingml/2006/main">
              <a:ext uri="{FF2B5EF4-FFF2-40B4-BE49-F238E27FC236}">
                <a16:creationId xmlns:a16="http://schemas.microsoft.com/office/drawing/2014/main" id="{1C1CD886-9F87-40E5-9CA0-52B5C5BF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3–12 MONTHS</a:t>
            </a:r>
          </a:p>
        </p:txBody>
      </p:sp>
      <p:sp>
        <p:nvSpPr>
          <p:cNvPr id="12" name="timeline-copy-2">
            <a:extLst xmlns:a="http://schemas.openxmlformats.org/drawingml/2006/main">
              <a:ext uri="{FF2B5EF4-FFF2-40B4-BE49-F238E27FC236}">
                <a16:creationId xmlns:a16="http://schemas.microsoft.com/office/drawing/2014/main" id="{7D89DAE3-1950-4724-92D5-99318243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[Scale / checkpoint]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Trigger: [____]</a:t>
            </a:r>
          </a:p>
        </p:txBody>
      </p:sp>
      <p:sp>
        <p:nvSpPr>
          <p:cNvPr id="13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B4610D71-41BF-4D27-AE3F-BE31DD2E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4" name="timeline-lab-3">
            <a:extLst xmlns:a="http://schemas.openxmlformats.org/drawingml/2006/main">
              <a:ext uri="{FF2B5EF4-FFF2-40B4-BE49-F238E27FC236}">
                <a16:creationId xmlns:a16="http://schemas.microsoft.com/office/drawing/2014/main" id="{D4517A35-4625-463E-AAC5-0D72052C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5" name="timeline-copy-3">
            <a:extLst xmlns:a="http://schemas.openxmlformats.org/drawingml/2006/main">
              <a:ext uri="{FF2B5EF4-FFF2-40B4-BE49-F238E27FC236}">
                <a16:creationId xmlns:a16="http://schemas.microsoft.com/office/drawing/2014/main" id="{635F4BE0-01AF-4068-A26D-FB82C078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[Continue / modify / stop decision]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Evidence: [____]</a:t>
            </a:r>
          </a:p>
        </p:txBody>
      </p:sp>
      <p:sp>
        <p:nvSpPr>
          <p:cNvPr id="16" name="implementation-bar">
            <a:extLst xmlns:a="http://schemas.openxmlformats.org/drawingml/2006/main">
              <a:ext uri="{FF2B5EF4-FFF2-40B4-BE49-F238E27FC236}">
                <a16:creationId xmlns:a16="http://schemas.microsoft.com/office/drawing/2014/main" id="{0258E207-E06E-42CE-A971-4E999CD9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implementation-bar-text">
            <a:extLst xmlns:a="http://schemas.openxmlformats.org/drawingml/2006/main">
              <a:ext uri="{FF2B5EF4-FFF2-40B4-BE49-F238E27FC236}">
                <a16:creationId xmlns:a16="http://schemas.microsoft.com/office/drawing/2014/main" id="{CFDB496F-0E20-43E8-82E9-E1481F19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744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Success measure: [KPI + definition]   •   Early warning: [trigger]   •   Governance cadence: [owner + review timing]</a:t>
            </a:r>
          </a:p>
        </p:txBody>
      </p:sp>
      <p:sp>
        <p:nvSpPr>
          <p:cNvPr id="18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BECD5F6C-21DE-4B8C-8C93-04BE3168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8A6931A3-4A40-4242-B6D9-B3C9184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[Company disclosure / model trigger / course concept]  •  Dates and owners are proposed by the student</a:t>
            </a:r>
          </a:p>
        </p:txBody>
      </p:sp>
      <p:sp>
        <p:nvSpPr>
          <p:cNvPr id="20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B13FE3F0-8577-4711-984F-7DA3E60E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08/10  •  08</a:t>
            </a:r>
          </a:p>
        </p:txBody>
      </p:sp>
    </p:spTree>
    <p:extLst>
      <p:ext uri="{BB962C8B-B14F-4D97-AF65-F5344CB8AC3E}">
        <p14:creationId xmlns:p14="http://schemas.microsoft.com/office/powerpoint/2010/main" val="12946240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-9">
            <a:extLst xmlns:a="http://schemas.openxmlformats.org/drawingml/2006/main">
              <a:ext uri="{FF2B5EF4-FFF2-40B4-BE49-F238E27FC236}">
                <a16:creationId xmlns:a16="http://schemas.microsoft.com/office/drawing/2014/main" id="{2A78E33F-B287-4961-A4FC-9EB53E15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RISKS AND TRIGGERS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71D2460-F85A-4105-B3D3-EA7F0449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Risk triggers keep the recommendation defensible</a:t>
            </a:r>
          </a:p>
        </p:txBody>
      </p:sp>
      <p:sp>
        <p:nvSpPr>
          <p:cNvPr id="3" name="risk-thesis">
            <a:extLst xmlns:a="http://schemas.openxmlformats.org/drawingml/2006/main">
              <a:ext uri="{FF2B5EF4-FFF2-40B4-BE49-F238E27FC236}">
                <a16:creationId xmlns:a16="http://schemas.microsoft.com/office/drawing/2014/main" id="{5D18C602-42E2-410C-BC6B-E93F3196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[State the principal tradeoff: what must the Board accept in exchange for the expected value.]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25200" cy="3333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81250"/>
                <a:gridCol w="1571625"/>
                <a:gridCol w="2381250"/>
                <a:gridCol w="2952750"/>
                <a:gridCol w="1838325"/>
              </a:tblGrid>
              <a:tr h="6667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Observable trigger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Mitigation / contingency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[Revenue / demand]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[Execution / capacity]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[Finance / valuation]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[Regulatory / concentration]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5" name="risk-close">
            <a:extLst xmlns:a="http://schemas.openxmlformats.org/drawingml/2006/main">
              <a:ext uri="{FF2B5EF4-FFF2-40B4-BE49-F238E27FC236}">
                <a16:creationId xmlns:a16="http://schemas.microsoft.com/office/drawing/2014/main" id="{C256663E-F11B-401A-A18D-777AD706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Board guardrail: [The recommendation changes if ______].</a:t>
            </a:r>
          </a:p>
        </p:txBody>
      </p:sp>
      <p:sp>
        <p:nvSpPr>
          <p:cNvPr id="6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E9F13A34-35AE-436C-AB58-BFDDDE71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3C0F91C6-5DFE-451E-88AB-5F3AC77F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[Risk factors / model sensitivity / peer or industry evidence IDs]  •  Definitions [____]</a:t>
            </a:r>
          </a:p>
        </p:txBody>
      </p:sp>
      <p:sp>
        <p:nvSpPr>
          <p:cNvPr id="8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BFB6691F-9C0E-455C-BF13-739F3D87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09/10  •  09</a:t>
            </a:r>
          </a:p>
        </p:txBody>
      </p:sp>
    </p:spTree>
    <p:extLst>
      <p:ext uri="{BB962C8B-B14F-4D97-AF65-F5344CB8AC3E}">
        <p14:creationId xmlns:p14="http://schemas.microsoft.com/office/powerpoint/2010/main" val="12207493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0D5640D5-6941-46B2-A357-F1EB60FA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BOARD RESOLUTION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4A50146C-7CB5-4E72-B76B-69F868F2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Approve [action] under [guardrail]</a:t>
            </a:r>
          </a:p>
        </p:txBody>
      </p:sp>
      <p:sp>
        <p:nvSpPr>
          <p:cNvPr id="3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39A7404E-2045-4AD3-A21E-2B895512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[One operating reason]  •  [One value reason]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DA6E7C06-98DC-4445-B291-68FA7FBF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009650"/>
            <a:ext cx="11811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mark">
            <a:extLst xmlns:a="http://schemas.openxmlformats.org/drawingml/2006/main">
              <a:ext uri="{FF2B5EF4-FFF2-40B4-BE49-F238E27FC236}">
                <a16:creationId xmlns:a16="http://schemas.microsoft.com/office/drawing/2014/main" id="{900AC12D-7E05-4418-A988-7D1FCA03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123950"/>
            <a:ext cx="11811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33400" y="2952750"/>
          <a:ext xmlns:a="http://schemas.openxmlformats.org/drawingml/2006/main" cx="8572500" cy="2190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857500"/>
                <a:gridCol w="5715000"/>
              </a:tblGrid>
              <a:tr h="54768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Board question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Answer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What should we do?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[Recommendation]</a:t>
                      </a:r>
                    </a:p>
                  </a:txBody>
                  <a:tcPr marL="91440" marR="91440" marT="45720" marB="45720"/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What would change it?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[Trigger / guardrail]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What happens next?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[First milestone + owner]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qa-ready">
            <a:extLst xmlns:a="http://schemas.openxmlformats.org/drawingml/2006/main">
              <a:ext uri="{FF2B5EF4-FFF2-40B4-BE49-F238E27FC236}">
                <a16:creationId xmlns:a16="http://schemas.microsoft.com/office/drawing/2014/main" id="{22CD7674-8811-4E14-843D-E23C540C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43250"/>
            <a:ext cx="2190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Q&amp;A READY</a:t>
            </a:r>
          </a:p>
          <a:p xmlns:a="http://schemas.openxmlformats.org/drawingml/2006/main">
            <a:pPr algn="ctr"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Revenue  •  Model  •  Sensitivity  •  Sources</a:t>
            </a:r>
          </a:p>
        </p:txBody>
      </p:sp>
      <p:sp>
        <p:nvSpPr>
          <p:cNvPr id="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6A1B94F9-ED43-4534-9898-568B162B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D5A56CB8-3B8C-4EB3-A853-BE3172AC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[Decision evidence IDs]  •  See analytical appendix for model, sensitivity, and source support</a:t>
            </a:r>
          </a:p>
        </p:txBody>
      </p:sp>
      <p:sp>
        <p:nvSpPr>
          <p:cNvPr id="1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DA06B457-7921-46F0-9000-A8653DD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10/10  •  10</a:t>
            </a:r>
          </a:p>
        </p:txBody>
      </p:sp>
    </p:spTree>
    <p:extLst>
      <p:ext uri="{BB962C8B-B14F-4D97-AF65-F5344CB8AC3E}">
        <p14:creationId xmlns:p14="http://schemas.microsoft.com/office/powerpoint/2010/main" val="10675398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-11">
            <a:extLst xmlns:a="http://schemas.openxmlformats.org/drawingml/2006/main">
              <a:ext uri="{FF2B5EF4-FFF2-40B4-BE49-F238E27FC236}">
                <a16:creationId xmlns:a16="http://schemas.microsoft.com/office/drawing/2014/main" id="{648EA1D3-8318-4FEC-A617-85CB25F8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REVENUE Q&amp;A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2C90379-90C6-4380-BF2E-10091B99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Revenue detail and evidence register excerpt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667D712D-8918-49A1-94B0-D0C2AC8C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EDITABLE TABLE — REPLACE BRACKETS WITH VERIFIED DATA AND SOURCE IDS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33400" y="1504950"/>
          <a:ext xmlns:a="http://schemas.openxmlformats.org/drawingml/2006/main" cx="11125200" cy="3352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619250"/>
                <a:gridCol w="1381125"/>
                <a:gridCol w="1381125"/>
                <a:gridCol w="1381125"/>
                <a:gridCol w="1381125"/>
                <a:gridCol w="3981450"/>
              </a:tblGrid>
              <a:tr h="5588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Metric / segment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FY−3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FY−2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FY−1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FY0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 / definition / limitation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Total revenue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[S#] [form + date + table]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Segment A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 [definition]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Segment 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 [definition]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Leading indicator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[source + date]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Peer comparison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[F#] [peer group + rationale]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rev-qa">
            <a:extLst xmlns:a="http://schemas.openxmlformats.org/drawingml/2006/main">
              <a:ext uri="{FF2B5EF4-FFF2-40B4-BE49-F238E27FC236}">
                <a16:creationId xmlns:a16="http://schemas.microsoft.com/office/drawing/2014/main" id="{EFE5AD30-02CD-4CB1-81EC-1532B3C0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6255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Q&amp;A prompts: What is disclosed vs inferred?  •  Which driver is repeatable?  •  Why is the peer group defensible?  •  Which definition limits comparability?</a:t>
            </a:r>
          </a:p>
        </p:txBody>
      </p:sp>
      <p:sp>
        <p:nvSpPr>
          <p:cNvPr id="6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43FCBA9B-9A2F-4294-9889-CBFFC659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source-11">
            <a:extLst xmlns:a="http://schemas.openxmlformats.org/drawingml/2006/main">
              <a:ext uri="{FF2B5EF4-FFF2-40B4-BE49-F238E27FC236}">
                <a16:creationId xmlns:a16="http://schemas.microsoft.com/office/drawing/2014/main" id="{BF795B77-D375-40E2-9528-324ED566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Each row requires source name, date, period, units, definition, location, use, and limitation</a:t>
            </a:r>
          </a:p>
        </p:txBody>
      </p:sp>
      <p:sp>
        <p:nvSpPr>
          <p:cNvPr id="8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49297AA2-479E-4AFA-A07E-5F807701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A1  •  11</a:t>
            </a:r>
          </a:p>
        </p:txBody>
      </p:sp>
    </p:spTree>
    <p:extLst>
      <p:ext uri="{BB962C8B-B14F-4D97-AF65-F5344CB8AC3E}">
        <p14:creationId xmlns:p14="http://schemas.microsoft.com/office/powerpoint/2010/main" val="15483899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kicker-12">
            <a:extLst xmlns:a="http://schemas.openxmlformats.org/drawingml/2006/main">
              <a:ext uri="{FF2B5EF4-FFF2-40B4-BE49-F238E27FC236}">
                <a16:creationId xmlns:a16="http://schemas.microsoft.com/office/drawing/2014/main" id="{3D8EE211-CE2D-4F76-857B-2E008EAD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MODEL Q&amp;A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7EAFFDD5-48BD-41D3-BC80-AA01D325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Model assumptions, outputs, and checks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33400" y="1333500"/>
          <a:ext xmlns:a="http://schemas.openxmlformats.org/drawingml/2006/main" cx="11125200" cy="4000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76500"/>
                <a:gridCol w="2857500"/>
                <a:gridCol w="2857500"/>
                <a:gridCol w="2933700"/>
              </a:tblGrid>
              <a:tr h="500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 item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/ formula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 / definition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Check / decision use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Revenue forecast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[Driver-linked assumption]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[Scenario tie-out]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Operating margin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[Assumption / formula]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[Historical / peer check]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Tax and NOPAT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[Formula]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[Source / course concept]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[Sign and rate check]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Capex / D&amp;A / NWC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[Formula / assumption]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[FCF bridge check]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WACC / hurdle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[Formula]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[F# / model source]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[Component and weight check]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Terminal value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[Method / formula]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[Assumption source]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[TV share and sensitivity]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EV → equity / NPV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[Bridge / decision output]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[Balance-sheet source]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[Tie-out = PASS / explain]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model-qa">
            <a:extLst xmlns:a="http://schemas.openxmlformats.org/drawingml/2006/main">
              <a:ext uri="{FF2B5EF4-FFF2-40B4-BE49-F238E27FC236}">
                <a16:creationId xmlns:a16="http://schemas.microsoft.com/office/drawing/2014/main" id="{D9CCFDD9-64FA-4279-A36F-656C0646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41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Model defense: [one assumption with the most decision leverage]  •  [one check that catches an error]  •  [one limitation that remains]</a:t>
            </a:r>
          </a:p>
        </p:txBody>
      </p:sp>
      <p:sp>
        <p:nvSpPr>
          <p:cNvPr id="5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DD78325A-6085-4C37-9DA6-5CE89449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-source-12">
            <a:extLst xmlns:a="http://schemas.openxmlformats.org/drawingml/2006/main">
              <a:ext uri="{FF2B5EF4-FFF2-40B4-BE49-F238E27FC236}">
                <a16:creationId xmlns:a16="http://schemas.microsoft.com/office/drawing/2014/main" id="{6CDEFCAF-34A4-40A0-BBC6-42EC67DF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Inputs reconciled to [SEC / FactSet / other evidence IDs]</a:t>
            </a:r>
          </a:p>
        </p:txBody>
      </p:sp>
      <p:sp>
        <p:nvSpPr>
          <p:cNvPr id="7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4226682C-374B-4C4F-B4BE-F32CA17F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A2  •  12</a:t>
            </a:r>
          </a:p>
        </p:txBody>
      </p:sp>
    </p:spTree>
    <p:extLst>
      <p:ext uri="{BB962C8B-B14F-4D97-AF65-F5344CB8AC3E}">
        <p14:creationId xmlns:p14="http://schemas.microsoft.com/office/powerpoint/2010/main" val="13407317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-13">
            <a:extLst xmlns:a="http://schemas.openxmlformats.org/drawingml/2006/main">
              <a:ext uri="{FF2B5EF4-FFF2-40B4-BE49-F238E27FC236}">
                <a16:creationId xmlns:a16="http://schemas.microsoft.com/office/drawing/2014/main" id="{99C4FFB3-DDA7-4371-AD09-3B66EA99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SENSITIVITY Q&amp;A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7FF8AF79-89E3-4B0F-A55E-AB8F4E95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Sensitivity shows what overturns the decision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44A9AAC7-D917-44BA-ACCC-F91EE629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EDITABLE SENSITIVITY TABLE — PASTE VERIFIED MODEL OUTPUTS, NOT SCREENSHOTS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1476375" y="1619250"/>
          <a:ext xmlns:a="http://schemas.openxmlformats.org/drawingml/2006/main" cx="9239250" cy="2857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1428750"/>
                <a:gridCol w="1428750"/>
                <a:gridCol w="1428750"/>
                <a:gridCol w="1428750"/>
                <a:gridCol w="142875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[Value output]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low]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−]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base]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+]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high]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[Terminal / driver high]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[Terminal / driver +]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[Base assumption]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1220"/>
                          </a:solidFill>
                        </a:rPr>
                        <a:t>[BASE]</a:t>
                      </a:r>
                    </a:p>
                  </a:txBody>
                  <a:tcPr marL="91440" marR="91440" marT="45720" marB="45720">
                    <a:solidFill>
                      <a:srgbClr val="6DCB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[Terminal / driver low]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5" name="sens-callout">
            <a:extLst xmlns:a="http://schemas.openxmlformats.org/drawingml/2006/main">
              <a:ext uri="{FF2B5EF4-FFF2-40B4-BE49-F238E27FC236}">
                <a16:creationId xmlns:a16="http://schemas.microsoft.com/office/drawing/2014/main" id="{08F3D011-0399-4157-B561-B3061C5C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810125"/>
            <a:ext cx="923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boundary: [At what input or scenario does the recommendation change—and why is that boundary plausible?]</a:t>
            </a:r>
          </a:p>
        </p:txBody>
      </p:sp>
      <p:sp>
        <p:nvSpPr>
          <p:cNvPr id="6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20C1A23B-B760-4DD9-AD1B-88C1DDA6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source-13">
            <a:extLst xmlns:a="http://schemas.openxmlformats.org/drawingml/2006/main">
              <a:ext uri="{FF2B5EF4-FFF2-40B4-BE49-F238E27FC236}">
                <a16:creationId xmlns:a16="http://schemas.microsoft.com/office/drawing/2014/main" id="{E58F6756-16C7-41CC-A1AC-FC66A783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Sensitivity variables and units [____]</a:t>
            </a:r>
          </a:p>
        </p:txBody>
      </p:sp>
      <p:sp>
        <p:nvSpPr>
          <p:cNvPr id="8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D19933A-2CEC-4D18-B034-C996BE50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A3  •  13</a:t>
            </a:r>
          </a:p>
        </p:txBody>
      </p:sp>
    </p:spTree>
    <p:extLst>
      <p:ext uri="{BB962C8B-B14F-4D97-AF65-F5344CB8AC3E}">
        <p14:creationId xmlns:p14="http://schemas.microsoft.com/office/powerpoint/2010/main" val="20877744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14">
            <a:extLst xmlns:a="http://schemas.openxmlformats.org/drawingml/2006/main">
              <a:ext uri="{FF2B5EF4-FFF2-40B4-BE49-F238E27FC236}">
                <a16:creationId xmlns:a16="http://schemas.microsoft.com/office/drawing/2014/main" id="{20905067-B83E-4477-94EE-C1DF95FC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SOURCE Q&amp;A</a:t>
            </a:r>
          </a:p>
        </p:txBody>
      </p:sp>
      <p:sp>
        <p:nvSpPr>
          <p:cNvPr id="2" name="title-14">
            <a:extLst xmlns:a="http://schemas.openxmlformats.org/drawingml/2006/main">
              <a:ext uri="{FF2B5EF4-FFF2-40B4-BE49-F238E27FC236}">
                <a16:creationId xmlns:a16="http://schemas.microsoft.com/office/drawing/2014/main" id="{D95CECB8-D0F1-48AC-9254-8BDD8EA8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Source notes and final AI-use disclosure</a:t>
            </a:r>
          </a:p>
        </p:txBody>
      </p:sp>
      <p:sp>
        <p:nvSpPr>
          <p:cNvPr id="3" name="source-format-head">
            <a:extLst xmlns:a="http://schemas.openxmlformats.org/drawingml/2006/main">
              <a:ext uri="{FF2B5EF4-FFF2-40B4-BE49-F238E27FC236}">
                <a16:creationId xmlns:a16="http://schemas.microsoft.com/office/drawing/2014/main" id="{E1105A59-C989-43C8-B0C4-0E3DE904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COMPACT SOURCE NOTE PATTERNS</a:t>
            </a:r>
          </a:p>
        </p:txBody>
      </p:sp>
      <p:sp>
        <p:nvSpPr>
          <p:cNvPr id="4" name="source-format">
            <a:extLst xmlns:a="http://schemas.openxmlformats.org/drawingml/2006/main">
              <a:ext uri="{FF2B5EF4-FFF2-40B4-BE49-F238E27FC236}">
                <a16:creationId xmlns:a16="http://schemas.microsoft.com/office/drawing/2014/main" id="{28496F6A-8E34-4659-98EC-45FF09F6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52387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S1 — [Company], Form [10-K/10-Q/8-K/DEF 14A], filed [date], fiscal period [____], Item/page/table [____], metric [____], units/definition [____].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F1 — FactSet, [screen/report/chart/metric], data through [date], accessed [date], [currency/units/period], definition [____], peer group + rationale [____].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M1 — BUS311 valuation model v[date], [scenario/output/sensitivity], reconciled to [source IDs], check [PASS / explain].</a:t>
            </a:r>
          </a:p>
        </p:txBody>
      </p:sp>
      <p:sp>
        <p:nvSpPr>
          <p:cNvPr id="5" name="ai-head">
            <a:extLst xmlns:a="http://schemas.openxmlformats.org/drawingml/2006/main">
              <a:ext uri="{FF2B5EF4-FFF2-40B4-BE49-F238E27FC236}">
                <a16:creationId xmlns:a16="http://schemas.microsoft.com/office/drawing/2014/main" id="{D264E1DB-FEEF-4F25-93C7-1D9A4973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76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FINAL AI-USE DISCLOSURE</a:t>
            </a:r>
          </a:p>
        </p:txBody>
      </p:sp>
      <p:sp>
        <p:nvSpPr>
          <p:cNvPr id="6" name="ai-body">
            <a:extLst xmlns:a="http://schemas.openxmlformats.org/drawingml/2006/main">
              <a:ext uri="{FF2B5EF4-FFF2-40B4-BE49-F238E27FC236}">
                <a16:creationId xmlns:a16="http://schemas.microsoft.com/office/drawing/2014/main" id="{BF2BD81A-1EF8-43EF-BAEF-3CD6C0BF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54673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AI use — I used [tool] for [checkpoint purposes]. I retained [specific output] only after checking [SEC / FactSet / Excel / course evidence] and [accepted / modified / rejected] it because [brief rationale]. My judgment overruled AI when [____]. No raw FactSet export, screenshot, workbook, personal information, instructor-only material, or nonpublic information was uploaded.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AI is not a source. All retained claims, calculations, prose, and visuals are independently verified and individually owned.</a:t>
            </a:r>
          </a:p>
        </p:txBody>
      </p:sp>
      <p:sp>
        <p:nvSpPr>
          <p:cNvPr id="7" name="source-close">
            <a:extLst xmlns:a="http://schemas.openxmlformats.org/drawingml/2006/main">
              <a:ext uri="{FF2B5EF4-FFF2-40B4-BE49-F238E27FC236}">
                <a16:creationId xmlns:a16="http://schemas.microsoft.com/office/drawing/2014/main" id="{FB3B32F3-CB00-48B8-9229-5A129D43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91125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Before submission: open the saved PPTX  •  verify fonts and chart links  •  inspect source-note legibility  •  run Accessibility Checker  •  confirm 8–10 core slides</a:t>
            </a:r>
          </a:p>
        </p:txBody>
      </p:sp>
      <p:sp>
        <p:nvSpPr>
          <p:cNvPr id="8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DE555B0F-47D7-4916-96FC-4CFC7A06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14">
            <a:extLst xmlns:a="http://schemas.openxmlformats.org/drawingml/2006/main">
              <a:ext uri="{FF2B5EF4-FFF2-40B4-BE49-F238E27FC236}">
                <a16:creationId xmlns:a16="http://schemas.microsoft.com/office/drawing/2014/main" id="{B9C10A98-67F0-49F2-9BE7-097256BC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AI output is not a source  •  No AI-generated chart images as financial evidence</a:t>
            </a:r>
          </a:p>
        </p:txBody>
      </p:sp>
      <p:sp>
        <p:nvSpPr>
          <p:cNvPr id="10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792E579C-E5EC-4191-91F5-D6C1DEE6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A4  •  14</a:t>
            </a:r>
          </a:p>
        </p:txBody>
      </p:sp>
    </p:spTree>
    <p:extLst>
      <p:ext uri="{BB962C8B-B14F-4D97-AF65-F5344CB8AC3E}">
        <p14:creationId xmlns:p14="http://schemas.microsoft.com/office/powerpoint/2010/main" val="14485682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2026-07-30T12:34:19.0490000Z</dcterms:created>
  <dcterms:modified xsi:type="dcterms:W3CDTF">2026-07-30T12:34:19.0490000Z</dcterms:modified>
</coreProperties>
</file>